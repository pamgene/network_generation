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 id="2147483652" r:id="rId2"/>
  </p:sldMasterIdLst>
  <p:notesMasterIdLst>
    <p:notesMasterId r:id="rId11"/>
  </p:notesMasterIdLst>
  <p:sldIdLst>
    <p:sldId id="338" r:id="rId3"/>
    <p:sldId id="340" r:id="rId4"/>
    <p:sldId id="336" r:id="rId5"/>
    <p:sldId id="335" r:id="rId6"/>
    <p:sldId id="339" r:id="rId7"/>
    <p:sldId id="337" r:id="rId8"/>
    <p:sldId id="305" r:id="rId9"/>
    <p:sldId id="333" r:id="rId10"/>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5EC45B4-B961-4AAD-9397-45B13DCB17CE}">
          <p14:sldIdLst>
            <p14:sldId id="338"/>
            <p14:sldId id="340"/>
            <p14:sldId id="336"/>
            <p14:sldId id="335"/>
            <p14:sldId id="339"/>
            <p14:sldId id="337"/>
            <p14:sldId id="305"/>
            <p14:sldId id="33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82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941" autoAdjust="0"/>
  </p:normalViewPr>
  <p:slideViewPr>
    <p:cSldViewPr snapToGrid="0">
      <p:cViewPr varScale="1">
        <p:scale>
          <a:sx n="73" d="100"/>
          <a:sy n="73" d="100"/>
        </p:scale>
        <p:origin x="97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EF12A7-50D3-4D43-91D9-48F476D9C378}" type="datetimeFigureOut">
              <a:rPr lang="en-NL" smtClean="0"/>
              <a:t>10/03/2026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B196FA-3089-4310-9B6A-ED41257F64AC}" type="slidenum">
              <a:rPr lang="en-NL" smtClean="0"/>
              <a:t>‹#›</a:t>
            </a:fld>
            <a:endParaRPr lang="en-NL"/>
          </a:p>
        </p:txBody>
      </p:sp>
    </p:spTree>
    <p:extLst>
      <p:ext uri="{BB962C8B-B14F-4D97-AF65-F5344CB8AC3E}">
        <p14:creationId xmlns:p14="http://schemas.microsoft.com/office/powerpoint/2010/main" val="862380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NL" sz="1200" dirty="0">
                <a:latin typeface="Aptos" panose="020B0004020202020204" pitchFamily="34" charset="0"/>
              </a:rPr>
              <a:t>Networks are generated using the Prize-Collecting Steiner Forest (PCSF) algorithm with the STRING database as reference network. STRING contains weighted edges based on interaction evidence (weak evidence: higher cost of edge). </a:t>
            </a:r>
            <a:endParaRPr lang="hu-HU" sz="1200" dirty="0">
              <a:latin typeface="Aptos" panose="020B0004020202020204" pitchFamily="34" charset="0"/>
            </a:endParaRPr>
          </a:p>
          <a:p>
            <a:pPr>
              <a:buNone/>
            </a:pPr>
            <a:r>
              <a:rPr lang="hu-HU" sz="1200" dirty="0">
                <a:latin typeface="Aptos" panose="020B0004020202020204" pitchFamily="34" charset="0"/>
              </a:rPr>
              <a:t>The algorithm</a:t>
            </a:r>
            <a:r>
              <a:rPr lang="en-NL" sz="1200" dirty="0">
                <a:latin typeface="Aptos" panose="020B0004020202020204" pitchFamily="34" charset="0"/>
              </a:rPr>
              <a:t>, given the reference network and input nodes, constructs an optimal subnetwork. This is done by balancing node inclusion and edge costs. Node inclusion is decided using </a:t>
            </a:r>
            <a:r>
              <a:rPr lang="hu-HU" sz="1200" dirty="0">
                <a:latin typeface="Aptos" panose="020B0004020202020204" pitchFamily="34" charset="0"/>
              </a:rPr>
              <a:t>the absolute fold change (</a:t>
            </a:r>
            <a:r>
              <a:rPr lang="en-NL" sz="1200" dirty="0">
                <a:latin typeface="Aptos" panose="020B0004020202020204" pitchFamily="34" charset="0"/>
              </a:rPr>
              <a:t>“prize”</a:t>
            </a:r>
            <a:r>
              <a:rPr lang="hu-HU" sz="1200" dirty="0">
                <a:latin typeface="Aptos" panose="020B0004020202020204" pitchFamily="34" charset="0"/>
              </a:rPr>
              <a:t>: </a:t>
            </a:r>
            <a:r>
              <a:rPr lang="en-NL" sz="1200" dirty="0">
                <a:latin typeface="Aptos" panose="020B0004020202020204" pitchFamily="34" charset="0"/>
              </a:rPr>
              <a:t>higher abs fold change</a:t>
            </a:r>
            <a:r>
              <a:rPr lang="hu-HU" sz="1200" dirty="0">
                <a:latin typeface="Aptos" panose="020B0004020202020204" pitchFamily="34" charset="0"/>
              </a:rPr>
              <a:t> =</a:t>
            </a:r>
            <a:r>
              <a:rPr lang="en-NL" sz="1200" dirty="0">
                <a:latin typeface="Aptos" panose="020B0004020202020204" pitchFamily="34" charset="0"/>
              </a:rPr>
              <a:t> more important node). </a:t>
            </a:r>
            <a:r>
              <a:rPr lang="en-NL" sz="1200" b="1" dirty="0">
                <a:latin typeface="Aptos" panose="020B0004020202020204" pitchFamily="34" charset="0"/>
              </a:rPr>
              <a:t>The resulting network connects key kinases through high-confidence links and may add high confidence connector nodes</a:t>
            </a:r>
            <a:r>
              <a:rPr lang="en-NL" sz="1200" dirty="0">
                <a:latin typeface="Aptos" panose="020B0004020202020204" pitchFamily="34" charset="0"/>
              </a:rPr>
              <a:t> which are not in the data (“</a:t>
            </a:r>
            <a:r>
              <a:rPr lang="hu-HU" sz="1200" dirty="0">
                <a:latin typeface="Aptos" panose="020B0004020202020204" pitchFamily="34" charset="0"/>
              </a:rPr>
              <a:t>Steiner” or „</a:t>
            </a:r>
            <a:r>
              <a:rPr lang="en-NL" sz="1200" dirty="0">
                <a:latin typeface="Aptos" panose="020B0004020202020204" pitchFamily="34" charset="0"/>
              </a:rPr>
              <a:t>Hidden” nodes). </a:t>
            </a:r>
            <a:endParaRPr lang="hu-HU" sz="1200" dirty="0">
              <a:latin typeface="Aptos" panose="020B0004020202020204" pitchFamily="34" charset="0"/>
            </a:endParaRPr>
          </a:p>
          <a:p>
            <a:pPr>
              <a:buNone/>
            </a:pPr>
            <a:r>
              <a:rPr lang="en-NL" sz="1200" b="1" dirty="0">
                <a:latin typeface="Aptos" panose="020B0004020202020204" pitchFamily="34" charset="0"/>
              </a:rPr>
              <a:t>This approach enhances robustness by pruning weakly connected or low-fold-change nodes (probably false positives) </a:t>
            </a:r>
            <a:r>
              <a:rPr lang="en-NL" sz="1200" dirty="0">
                <a:latin typeface="Aptos" panose="020B0004020202020204" pitchFamily="34" charset="0"/>
              </a:rPr>
              <a:t>and recovering missing connections through hidden nodes (probably false negatives).</a:t>
            </a:r>
          </a:p>
          <a:p>
            <a:pPr>
              <a:buNone/>
            </a:pPr>
            <a:r>
              <a:rPr lang="hu-HU" sz="1400" dirty="0">
                <a:effectLst/>
                <a:latin typeface="Aptos" panose="020B0004020202020204" pitchFamily="34" charset="0"/>
                <a:ea typeface="SimSun" panose="02010600030101010101" pitchFamily="2" charset="-122"/>
                <a:cs typeface="Aptos" panose="020B0004020202020204" pitchFamily="34" charset="0"/>
              </a:rPr>
              <a:t> </a:t>
            </a:r>
            <a:endParaRPr lang="en-NL" sz="1600" dirty="0">
              <a:effectLst/>
              <a:latin typeface="SimSun" panose="02010600030101010101" pitchFamily="2" charset="-122"/>
              <a:ea typeface="SimSun" panose="02010600030101010101" pitchFamily="2" charset="-122"/>
              <a:cs typeface="Aptos" panose="020B0004020202020204" pitchFamily="34" charset="0"/>
            </a:endParaRPr>
          </a:p>
          <a:p>
            <a:endParaRPr lang="en-NL" dirty="0"/>
          </a:p>
        </p:txBody>
      </p:sp>
      <p:sp>
        <p:nvSpPr>
          <p:cNvPr id="4" name="Slide Number Placeholder 3"/>
          <p:cNvSpPr>
            <a:spLocks noGrp="1"/>
          </p:cNvSpPr>
          <p:nvPr>
            <p:ph type="sldNum" sz="quarter" idx="5"/>
          </p:nvPr>
        </p:nvSpPr>
        <p:spPr/>
        <p:txBody>
          <a:bodyPr/>
          <a:lstStyle/>
          <a:p>
            <a:fld id="{8CB196FA-3089-4310-9B6A-ED41257F64AC}" type="slidenum">
              <a:rPr lang="en-NL" smtClean="0"/>
              <a:t>3</a:t>
            </a:fld>
            <a:endParaRPr lang="en-NL"/>
          </a:p>
        </p:txBody>
      </p:sp>
    </p:spTree>
    <p:extLst>
      <p:ext uri="{BB962C8B-B14F-4D97-AF65-F5344CB8AC3E}">
        <p14:creationId xmlns:p14="http://schemas.microsoft.com/office/powerpoint/2010/main" val="882955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Content Placeholder 10"/>
          <p:cNvSpPr>
            <a:spLocks noGrp="1"/>
          </p:cNvSpPr>
          <p:nvPr>
            <p:ph sz="quarter" idx="11" hasCustomPrompt="1"/>
          </p:nvPr>
        </p:nvSpPr>
        <p:spPr>
          <a:xfrm>
            <a:off x="982766" y="3709949"/>
            <a:ext cx="10154450" cy="503840"/>
          </a:xfrm>
          <a:prstGeom prst="rect">
            <a:avLst/>
          </a:prstGeom>
        </p:spPr>
        <p:txBody>
          <a:bodyPr lIns="0" tIns="0" rIns="0" bIns="0"/>
          <a:lstStyle>
            <a:lvl1pPr marL="0" indent="0">
              <a:buFontTx/>
              <a:buNone/>
              <a:defRPr sz="2799" baseline="0">
                <a:solidFill>
                  <a:schemeClr val="tx2">
                    <a:lumMod val="40000"/>
                    <a:lumOff val="60000"/>
                  </a:schemeClr>
                </a:solidFill>
              </a:defRPr>
            </a:lvl1pPr>
          </a:lstStyle>
          <a:p>
            <a:pPr lvl="0"/>
            <a:r>
              <a:rPr lang="en-GB" dirty="0"/>
              <a:t>Section Sub Title</a:t>
            </a:r>
          </a:p>
        </p:txBody>
      </p:sp>
      <p:sp>
        <p:nvSpPr>
          <p:cNvPr id="13" name="Content Placeholder 12"/>
          <p:cNvSpPr>
            <a:spLocks noGrp="1"/>
          </p:cNvSpPr>
          <p:nvPr>
            <p:ph sz="quarter" idx="12" hasCustomPrompt="1"/>
          </p:nvPr>
        </p:nvSpPr>
        <p:spPr>
          <a:xfrm>
            <a:off x="982766" y="2637096"/>
            <a:ext cx="10154972" cy="719913"/>
          </a:xfrm>
          <a:prstGeom prst="rect">
            <a:avLst/>
          </a:prstGeom>
        </p:spPr>
        <p:txBody>
          <a:bodyPr lIns="0" tIns="0" rIns="0" bIns="0"/>
          <a:lstStyle>
            <a:lvl1pPr marL="0" indent="0">
              <a:buFontTx/>
              <a:buNone/>
              <a:defRPr sz="4799" baseline="0">
                <a:solidFill>
                  <a:schemeClr val="bg1"/>
                </a:solidFill>
              </a:defRPr>
            </a:lvl1pPr>
          </a:lstStyle>
          <a:p>
            <a:pPr lvl="0"/>
            <a:r>
              <a:rPr lang="en-GB" sz="4799" dirty="0"/>
              <a:t>Section Title</a:t>
            </a:r>
            <a:endParaRPr lang="en-GB" dirty="0"/>
          </a:p>
        </p:txBody>
      </p:sp>
      <p:sp>
        <p:nvSpPr>
          <p:cNvPr id="3" name="Rectangle: Rounded Corners 2">
            <a:extLst>
              <a:ext uri="{FF2B5EF4-FFF2-40B4-BE49-F238E27FC236}">
                <a16:creationId xmlns:a16="http://schemas.microsoft.com/office/drawing/2014/main" id="{0465123D-9BAF-4F91-B1C1-CB5F15FCB522}"/>
              </a:ext>
            </a:extLst>
          </p:cNvPr>
          <p:cNvSpPr/>
          <p:nvPr userDrawn="1"/>
        </p:nvSpPr>
        <p:spPr>
          <a:xfrm>
            <a:off x="1001819" y="3277860"/>
            <a:ext cx="1841765" cy="63277"/>
          </a:xfrm>
          <a:prstGeom prst="roundRect">
            <a:avLst/>
          </a:prstGeom>
          <a:solidFill>
            <a:srgbClr val="EC891F"/>
          </a:solidFill>
          <a:ln>
            <a:solidFill>
              <a:srgbClr val="EC89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p>
        </p:txBody>
      </p:sp>
    </p:spTree>
    <p:extLst>
      <p:ext uri="{BB962C8B-B14F-4D97-AF65-F5344CB8AC3E}">
        <p14:creationId xmlns:p14="http://schemas.microsoft.com/office/powerpoint/2010/main" val="2317162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O PG Logo">
    <p:spTree>
      <p:nvGrpSpPr>
        <p:cNvPr id="1" name=""/>
        <p:cNvGrpSpPr/>
        <p:nvPr/>
      </p:nvGrpSpPr>
      <p:grpSpPr>
        <a:xfrm>
          <a:off x="0" y="0"/>
          <a:ext cx="0" cy="0"/>
          <a:chOff x="0" y="0"/>
          <a:chExt cx="0" cy="0"/>
        </a:xfrm>
      </p:grpSpPr>
      <p:sp>
        <p:nvSpPr>
          <p:cNvPr id="10" name="Content Placeholder 10">
            <a:extLst>
              <a:ext uri="{FF2B5EF4-FFF2-40B4-BE49-F238E27FC236}">
                <a16:creationId xmlns:a16="http://schemas.microsoft.com/office/drawing/2014/main" id="{8FD76D93-597D-4051-9F91-CAD419F7137F}"/>
              </a:ext>
            </a:extLst>
          </p:cNvPr>
          <p:cNvSpPr>
            <a:spLocks noGrp="1"/>
          </p:cNvSpPr>
          <p:nvPr>
            <p:ph sz="quarter" idx="11" hasCustomPrompt="1"/>
          </p:nvPr>
        </p:nvSpPr>
        <p:spPr>
          <a:xfrm>
            <a:off x="375628" y="6564380"/>
            <a:ext cx="3003013" cy="268226"/>
          </a:xfrm>
          <a:prstGeom prst="rect">
            <a:avLst/>
          </a:prstGeom>
        </p:spPr>
        <p:txBody>
          <a:bodyPr lIns="0" tIns="0" rIns="0" bIns="0"/>
          <a:lstStyle>
            <a:lvl1pPr marL="0" indent="0">
              <a:buFontTx/>
              <a:buNone/>
              <a:defRPr sz="1600" baseline="0">
                <a:solidFill>
                  <a:schemeClr val="tx2">
                    <a:lumMod val="40000"/>
                    <a:lumOff val="60000"/>
                  </a:schemeClr>
                </a:solidFill>
              </a:defRPr>
            </a:lvl1pPr>
          </a:lstStyle>
          <a:p>
            <a:pPr lvl="0"/>
            <a:r>
              <a:rPr lang="en-GB" dirty="0"/>
              <a:t>Section Sub Title</a:t>
            </a:r>
          </a:p>
        </p:txBody>
      </p:sp>
      <p:sp>
        <p:nvSpPr>
          <p:cNvPr id="5" name="Content Placeholder 10">
            <a:extLst>
              <a:ext uri="{FF2B5EF4-FFF2-40B4-BE49-F238E27FC236}">
                <a16:creationId xmlns:a16="http://schemas.microsoft.com/office/drawing/2014/main" id="{1EA9FB1D-F774-4B55-A94F-5EFD97DFF31E}"/>
              </a:ext>
            </a:extLst>
          </p:cNvPr>
          <p:cNvSpPr>
            <a:spLocks noGrp="1"/>
          </p:cNvSpPr>
          <p:nvPr>
            <p:ph sz="quarter" idx="12" hasCustomPrompt="1"/>
          </p:nvPr>
        </p:nvSpPr>
        <p:spPr>
          <a:xfrm>
            <a:off x="524125" y="-26140"/>
            <a:ext cx="4785166" cy="636442"/>
          </a:xfrm>
          <a:prstGeom prst="rect">
            <a:avLst/>
          </a:prstGeom>
        </p:spPr>
        <p:txBody>
          <a:bodyPr lIns="0" tIns="0" rIns="0" bIns="0"/>
          <a:lstStyle>
            <a:lvl1pPr marL="0" indent="0">
              <a:buFontTx/>
              <a:buNone/>
              <a:defRPr sz="4799" baseline="0">
                <a:solidFill>
                  <a:schemeClr val="bg1"/>
                </a:solidFill>
                <a:latin typeface="+mn-lt"/>
              </a:defRPr>
            </a:lvl1pPr>
          </a:lstStyle>
          <a:p>
            <a:pPr lvl="0"/>
            <a:r>
              <a:rPr lang="en-GB" dirty="0"/>
              <a:t>Section Title</a:t>
            </a:r>
          </a:p>
        </p:txBody>
      </p:sp>
      <p:sp>
        <p:nvSpPr>
          <p:cNvPr id="6" name="Rectangle: Rounded Corners 5">
            <a:extLst>
              <a:ext uri="{FF2B5EF4-FFF2-40B4-BE49-F238E27FC236}">
                <a16:creationId xmlns:a16="http://schemas.microsoft.com/office/drawing/2014/main" id="{F754F421-BD68-4AA9-940A-3257B8C13929}"/>
              </a:ext>
            </a:extLst>
          </p:cNvPr>
          <p:cNvSpPr/>
          <p:nvPr userDrawn="1"/>
        </p:nvSpPr>
        <p:spPr>
          <a:xfrm>
            <a:off x="540796" y="609609"/>
            <a:ext cx="1841765" cy="63277"/>
          </a:xfrm>
          <a:prstGeom prst="roundRect">
            <a:avLst/>
          </a:prstGeom>
          <a:solidFill>
            <a:srgbClr val="EC891F"/>
          </a:solidFill>
          <a:ln>
            <a:solidFill>
              <a:srgbClr val="EC89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p>
        </p:txBody>
      </p:sp>
    </p:spTree>
    <p:extLst>
      <p:ext uri="{BB962C8B-B14F-4D97-AF65-F5344CB8AC3E}">
        <p14:creationId xmlns:p14="http://schemas.microsoft.com/office/powerpoint/2010/main" val="38286415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1"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100"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47006" y="5156792"/>
            <a:ext cx="2570183" cy="1358059"/>
          </a:xfrm>
          <a:prstGeom prst="rect">
            <a:avLst/>
          </a:prstGeom>
        </p:spPr>
      </p:pic>
    </p:spTree>
    <p:extLst>
      <p:ext uri="{BB962C8B-B14F-4D97-AF65-F5344CB8AC3E}">
        <p14:creationId xmlns:p14="http://schemas.microsoft.com/office/powerpoint/2010/main" val="2542755514"/>
      </p:ext>
    </p:extLst>
  </p:cSld>
  <p:clrMap bg1="lt1" tx1="dk1" bg2="lt2" tx2="dk2" accent1="accent1" accent2="accent2" accent3="accent3" accent4="accent4" accent5="accent5" accent6="accent6" hlink="hlink" folHlink="folHlink"/>
  <p:sldLayoutIdLst>
    <p:sldLayoutId id="2147483651"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1" y="0"/>
            <a:ext cx="12192000" cy="79494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100" dirty="0"/>
          </a:p>
        </p:txBody>
      </p:sp>
      <p:pic>
        <p:nvPicPr>
          <p:cNvPr id="11" name="Picture 10"/>
          <p:cNvPicPr>
            <a:picLocks noChangeAspect="1"/>
          </p:cNvPicPr>
          <p:nvPr userDrawn="1"/>
        </p:nvPicPr>
        <p:blipFill rotWithShape="1">
          <a:blip r:embed="rId3" cstate="print">
            <a:extLst>
              <a:ext uri="{28A0092B-C50C-407E-A947-70E740481C1C}">
                <a14:useLocalDpi xmlns:a14="http://schemas.microsoft.com/office/drawing/2010/main" val="0"/>
              </a:ext>
            </a:extLst>
          </a:blip>
          <a:srcRect b="59080"/>
          <a:stretch/>
        </p:blipFill>
        <p:spPr>
          <a:xfrm>
            <a:off x="9984938" y="117399"/>
            <a:ext cx="1682937" cy="677547"/>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417042" y="300926"/>
            <a:ext cx="936226" cy="370823"/>
          </a:xfrm>
          <a:prstGeom prst="rect">
            <a:avLst/>
          </a:prstGeom>
        </p:spPr>
      </p:pic>
      <p:sp>
        <p:nvSpPr>
          <p:cNvPr id="9" name="Rectangle 8"/>
          <p:cNvSpPr/>
          <p:nvPr userDrawn="1"/>
        </p:nvSpPr>
        <p:spPr>
          <a:xfrm>
            <a:off x="1" y="6557075"/>
            <a:ext cx="12192000" cy="3155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100" dirty="0"/>
          </a:p>
        </p:txBody>
      </p:sp>
    </p:spTree>
    <p:extLst>
      <p:ext uri="{BB962C8B-B14F-4D97-AF65-F5344CB8AC3E}">
        <p14:creationId xmlns:p14="http://schemas.microsoft.com/office/powerpoint/2010/main" val="2556188272"/>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reactome.org/PathwayBrowser/"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frontiersin.org/journals/molecular-biosciences/articles/10.3389/fmolb.2021.666705/ful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journals.plos.org/ploscompbiol/article/file?id=10.1371/journal.pcbi.1005694&amp;type=printabl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1305FE-BF66-51D9-C6B6-32E9C28493A3}"/>
              </a:ext>
            </a:extLst>
          </p:cNvPr>
          <p:cNvSpPr>
            <a:spLocks noGrp="1"/>
          </p:cNvSpPr>
          <p:nvPr>
            <p:ph sz="quarter" idx="11"/>
          </p:nvPr>
        </p:nvSpPr>
        <p:spPr/>
        <p:txBody>
          <a:bodyPr/>
          <a:lstStyle/>
          <a:p>
            <a:r>
              <a:rPr lang="hu-HU" dirty="0">
                <a:latin typeface="Calibri Light" panose="020F0302020204030204" pitchFamily="34" charset="0"/>
                <a:ea typeface="Calibri Light" panose="020F0302020204030204" pitchFamily="34" charset="0"/>
                <a:cs typeface="Calibri Light" panose="020F0302020204030204" pitchFamily="34" charset="0"/>
              </a:rPr>
              <a:t>Interpretation guide</a:t>
            </a:r>
            <a:endParaRPr lang="en-NL"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48A1749E-C1E1-27B1-AB63-4AD5E4D0B3F6}"/>
              </a:ext>
            </a:extLst>
          </p:cNvPr>
          <p:cNvSpPr>
            <a:spLocks noGrp="1"/>
          </p:cNvSpPr>
          <p:nvPr>
            <p:ph sz="quarter" idx="12"/>
          </p:nvPr>
        </p:nvSpPr>
        <p:spPr/>
        <p:txBody>
          <a:bodyPr/>
          <a:lstStyle/>
          <a:p>
            <a:r>
              <a:rPr lang="hu-HU" dirty="0">
                <a:latin typeface="Calibri Light" panose="020F0302020204030204" pitchFamily="34" charset="0"/>
                <a:ea typeface="Calibri Light" panose="020F0302020204030204" pitchFamily="34" charset="0"/>
                <a:cs typeface="Calibri Light" panose="020F0302020204030204" pitchFamily="34" charset="0"/>
              </a:rPr>
              <a:t>Kinase networks and pathways</a:t>
            </a:r>
            <a:endParaRPr lang="en-NL"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038153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F91A-7648-E700-8F7C-F6781834F97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4422EE-9F92-9B0C-4FCC-805D5877BBA5}"/>
              </a:ext>
            </a:extLst>
          </p:cNvPr>
          <p:cNvSpPr>
            <a:spLocks noGrp="1"/>
          </p:cNvSpPr>
          <p:nvPr>
            <p:ph sz="quarter" idx="12"/>
          </p:nvPr>
        </p:nvSpPr>
        <p:spPr>
          <a:xfrm>
            <a:off x="524123" y="0"/>
            <a:ext cx="7851391" cy="636442"/>
          </a:xfrm>
        </p:spPr>
        <p:txBody>
          <a:bodyPr/>
          <a:lstStyle/>
          <a:p>
            <a:r>
              <a:rPr lang="hu-HU" sz="3600" b="1" dirty="0">
                <a:latin typeface="Calibri Light" panose="020F0302020204030204" pitchFamily="34" charset="0"/>
                <a:ea typeface="Calibri Light" panose="020F0302020204030204" pitchFamily="34" charset="0"/>
                <a:cs typeface="Calibri Light" panose="020F0302020204030204" pitchFamily="34" charset="0"/>
              </a:rPr>
              <a:t>Quick start</a:t>
            </a:r>
            <a:endParaRPr lang="en-NL" sz="36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TextBox 4">
            <a:extLst>
              <a:ext uri="{FF2B5EF4-FFF2-40B4-BE49-F238E27FC236}">
                <a16:creationId xmlns:a16="http://schemas.microsoft.com/office/drawing/2014/main" id="{4D3C3773-5895-9A5F-BC42-DBF57542CA6B}"/>
              </a:ext>
            </a:extLst>
          </p:cNvPr>
          <p:cNvSpPr txBox="1"/>
          <p:nvPr/>
        </p:nvSpPr>
        <p:spPr>
          <a:xfrm>
            <a:off x="604583" y="1068319"/>
            <a:ext cx="5270697" cy="400110"/>
          </a:xfrm>
          <a:prstGeom prst="rect">
            <a:avLst/>
          </a:prstGeom>
          <a:noFill/>
        </p:spPr>
        <p:txBody>
          <a:bodyPr wrap="square">
            <a:spAutoFit/>
          </a:bodyPr>
          <a:lstStyle/>
          <a:p>
            <a:r>
              <a:rPr lang="hu-HU" sz="2000" b="1" dirty="0">
                <a:latin typeface="Aptos" panose="020B0004020202020204" pitchFamily="34" charset="0"/>
                <a:ea typeface="Aptos" panose="020B0004020202020204" pitchFamily="34" charset="0"/>
                <a:cs typeface="Times New Roman" panose="02020603050405020304" pitchFamily="18" charset="0"/>
              </a:rPr>
              <a:t>How are networks generated?</a:t>
            </a:r>
            <a:r>
              <a:rPr lang="hu-HU" sz="2000" dirty="0">
                <a:latin typeface="Aptos" panose="020B0004020202020204" pitchFamily="34" charset="0"/>
                <a:ea typeface="Aptos" panose="020B0004020202020204" pitchFamily="34" charset="0"/>
                <a:cs typeface="Times New Roman" panose="02020603050405020304" pitchFamily="18" charset="0"/>
              </a:rPr>
              <a:t> </a:t>
            </a:r>
          </a:p>
        </p:txBody>
      </p:sp>
      <p:sp>
        <p:nvSpPr>
          <p:cNvPr id="6" name="TextBox 5">
            <a:extLst>
              <a:ext uri="{FF2B5EF4-FFF2-40B4-BE49-F238E27FC236}">
                <a16:creationId xmlns:a16="http://schemas.microsoft.com/office/drawing/2014/main" id="{60DED814-811B-21F1-89F1-CDD78F81333E}"/>
              </a:ext>
            </a:extLst>
          </p:cNvPr>
          <p:cNvSpPr txBox="1"/>
          <p:nvPr/>
        </p:nvSpPr>
        <p:spPr>
          <a:xfrm>
            <a:off x="405036" y="5972059"/>
            <a:ext cx="11235559" cy="523220"/>
          </a:xfrm>
          <a:prstGeom prst="rect">
            <a:avLst/>
          </a:prstGeom>
          <a:noFill/>
        </p:spPr>
        <p:txBody>
          <a:bodyPr wrap="square">
            <a:spAutoFit/>
          </a:bodyPr>
          <a:lstStyle/>
          <a:p>
            <a:pPr lvl="0"/>
            <a:r>
              <a:rPr lang="hu-HU" sz="1400" b="1" dirty="0">
                <a:latin typeface="Aptos" panose="020B0004020202020204" pitchFamily="34" charset="0"/>
                <a:ea typeface="Aptos" panose="020B0004020202020204" pitchFamily="34" charset="0"/>
                <a:cs typeface="Times New Roman" panose="02020603050405020304" pitchFamily="18" charset="0"/>
              </a:rPr>
              <a:t>*Params.csv</a:t>
            </a:r>
            <a:r>
              <a:rPr lang="hu-HU" sz="1400" dirty="0">
                <a:latin typeface="Aptos" panose="020B0004020202020204" pitchFamily="34" charset="0"/>
                <a:ea typeface="Aptos" panose="020B0004020202020204" pitchFamily="34" charset="0"/>
                <a:cs typeface="Times New Roman" panose="02020603050405020304" pitchFamily="18" charset="0"/>
              </a:rPr>
              <a:t>: shows how the data was pre-filtered. spec_cutoff is the threshold for specificity score. perc_cutoffs are the threshold(s) for percentile, which is usually 0.01 (shown at the end of the filename as _p01) so everything is used above the specificity cutoff.</a:t>
            </a:r>
            <a:endParaRPr lang="en-NL" sz="1400" dirty="0">
              <a:effectLst/>
              <a:latin typeface="Aptos" panose="020B0004020202020204" pitchFamily="34" charset="0"/>
              <a:ea typeface="Aptos" panose="020B0004020202020204" pitchFamily="34" charset="0"/>
              <a:cs typeface="Times New Roman" panose="02020603050405020304" pitchFamily="18" charset="0"/>
            </a:endParaRPr>
          </a:p>
        </p:txBody>
      </p:sp>
      <p:grpSp>
        <p:nvGrpSpPr>
          <p:cNvPr id="46" name="Group 45">
            <a:extLst>
              <a:ext uri="{FF2B5EF4-FFF2-40B4-BE49-F238E27FC236}">
                <a16:creationId xmlns:a16="http://schemas.microsoft.com/office/drawing/2014/main" id="{5938F589-AEA5-A756-2575-849C46C0D131}"/>
              </a:ext>
            </a:extLst>
          </p:cNvPr>
          <p:cNvGrpSpPr/>
          <p:nvPr/>
        </p:nvGrpSpPr>
        <p:grpSpPr>
          <a:xfrm>
            <a:off x="1178980" y="2873752"/>
            <a:ext cx="3761913" cy="1474336"/>
            <a:chOff x="10108049" y="1022211"/>
            <a:chExt cx="3761913" cy="1474336"/>
          </a:xfrm>
        </p:grpSpPr>
        <p:sp>
          <p:nvSpPr>
            <p:cNvPr id="30" name="Oval 29">
              <a:extLst>
                <a:ext uri="{FF2B5EF4-FFF2-40B4-BE49-F238E27FC236}">
                  <a16:creationId xmlns:a16="http://schemas.microsoft.com/office/drawing/2014/main" id="{37B07289-AD7F-3C63-A65C-FF7BA4ADF121}"/>
                </a:ext>
              </a:extLst>
            </p:cNvPr>
            <p:cNvSpPr/>
            <p:nvPr/>
          </p:nvSpPr>
          <p:spPr>
            <a:xfrm>
              <a:off x="12112827" y="1413756"/>
              <a:ext cx="192311" cy="192461"/>
            </a:xfrm>
            <a:prstGeom prst="ellipse">
              <a:avLst/>
            </a:prstGeom>
            <a:solidFill>
              <a:schemeClr val="accent5">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1" name="TextBox 30">
              <a:extLst>
                <a:ext uri="{FF2B5EF4-FFF2-40B4-BE49-F238E27FC236}">
                  <a16:creationId xmlns:a16="http://schemas.microsoft.com/office/drawing/2014/main" id="{FFA01698-50E9-496C-4E55-14786E62B6F3}"/>
                </a:ext>
              </a:extLst>
            </p:cNvPr>
            <p:cNvSpPr txBox="1"/>
            <p:nvPr/>
          </p:nvSpPr>
          <p:spPr>
            <a:xfrm>
              <a:off x="12347199" y="1368555"/>
              <a:ext cx="1522763" cy="346344"/>
            </a:xfrm>
            <a:prstGeom prst="rect">
              <a:avLst/>
            </a:prstGeom>
            <a:noFill/>
          </p:spPr>
          <p:txBody>
            <a:bodyPr wrap="square">
              <a:spAutoFit/>
            </a:bodyPr>
            <a:lstStyle/>
            <a:p>
              <a:pPr>
                <a:spcAft>
                  <a:spcPts val="600"/>
                </a:spcAft>
              </a:pPr>
              <a:r>
                <a:rPr lang="hu-HU" sz="1600" dirty="0">
                  <a:solidFill>
                    <a:schemeClr val="tx1"/>
                  </a:solidFill>
                  <a:latin typeface="Aptos" panose="020B0004020202020204" pitchFamily="34" charset="0"/>
                </a:rPr>
                <a:t>Hidden node</a:t>
              </a:r>
              <a:endParaRPr lang="en-NL" sz="1600" dirty="0">
                <a:solidFill>
                  <a:schemeClr val="tx1"/>
                </a:solidFill>
                <a:latin typeface="Aptos" panose="020B0004020202020204" pitchFamily="34" charset="0"/>
              </a:endParaRPr>
            </a:p>
          </p:txBody>
        </p:sp>
        <p:sp>
          <p:nvSpPr>
            <p:cNvPr id="32" name="Oval 31">
              <a:extLst>
                <a:ext uri="{FF2B5EF4-FFF2-40B4-BE49-F238E27FC236}">
                  <a16:creationId xmlns:a16="http://schemas.microsoft.com/office/drawing/2014/main" id="{03B5FD28-882E-1CDE-EACE-3718A170F08B}"/>
                </a:ext>
              </a:extLst>
            </p:cNvPr>
            <p:cNvSpPr/>
            <p:nvPr/>
          </p:nvSpPr>
          <p:spPr>
            <a:xfrm>
              <a:off x="12089562" y="1099153"/>
              <a:ext cx="192311" cy="192461"/>
            </a:xfrm>
            <a:prstGeom prst="ellipse">
              <a:avLst/>
            </a:prstGeom>
            <a:solidFill>
              <a:schemeClr val="accent6">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3" name="TextBox 32">
              <a:extLst>
                <a:ext uri="{FF2B5EF4-FFF2-40B4-BE49-F238E27FC236}">
                  <a16:creationId xmlns:a16="http://schemas.microsoft.com/office/drawing/2014/main" id="{37C28EA1-6935-3D94-87AC-F4C2D199116E}"/>
                </a:ext>
              </a:extLst>
            </p:cNvPr>
            <p:cNvSpPr txBox="1"/>
            <p:nvPr/>
          </p:nvSpPr>
          <p:spPr>
            <a:xfrm>
              <a:off x="12293945" y="1022211"/>
              <a:ext cx="1522763" cy="346344"/>
            </a:xfrm>
            <a:prstGeom prst="rect">
              <a:avLst/>
            </a:prstGeom>
            <a:noFill/>
          </p:spPr>
          <p:txBody>
            <a:bodyPr wrap="square">
              <a:spAutoFit/>
            </a:bodyPr>
            <a:lstStyle/>
            <a:p>
              <a:pPr>
                <a:spcAft>
                  <a:spcPts val="600"/>
                </a:spcAft>
              </a:pPr>
              <a:r>
                <a:rPr lang="hu-HU" sz="1600" dirty="0">
                  <a:solidFill>
                    <a:schemeClr val="tx1"/>
                  </a:solidFill>
                  <a:latin typeface="Aptos" panose="020B0004020202020204" pitchFamily="34" charset="0"/>
                </a:rPr>
                <a:t>Kinase node</a:t>
              </a:r>
              <a:endParaRPr lang="en-NL" sz="1600" dirty="0">
                <a:solidFill>
                  <a:schemeClr val="tx1"/>
                </a:solidFill>
                <a:latin typeface="Aptos" panose="020B0004020202020204" pitchFamily="34" charset="0"/>
              </a:endParaRPr>
            </a:p>
          </p:txBody>
        </p:sp>
        <p:grpSp>
          <p:nvGrpSpPr>
            <p:cNvPr id="37" name="Group 36">
              <a:extLst>
                <a:ext uri="{FF2B5EF4-FFF2-40B4-BE49-F238E27FC236}">
                  <a16:creationId xmlns:a16="http://schemas.microsoft.com/office/drawing/2014/main" id="{988D42E3-FECE-5752-4CB1-AF5677831201}"/>
                </a:ext>
              </a:extLst>
            </p:cNvPr>
            <p:cNvGrpSpPr/>
            <p:nvPr/>
          </p:nvGrpSpPr>
          <p:grpSpPr>
            <a:xfrm>
              <a:off x="10108049" y="1086556"/>
              <a:ext cx="1624540" cy="1409991"/>
              <a:chOff x="10153215" y="1585456"/>
              <a:chExt cx="1624540" cy="1409991"/>
            </a:xfrm>
          </p:grpSpPr>
          <p:sp>
            <p:nvSpPr>
              <p:cNvPr id="7" name="Oval 6">
                <a:extLst>
                  <a:ext uri="{FF2B5EF4-FFF2-40B4-BE49-F238E27FC236}">
                    <a16:creationId xmlns:a16="http://schemas.microsoft.com/office/drawing/2014/main" id="{FA2DC977-25A0-D78B-F123-6CC8F7577F50}"/>
                  </a:ext>
                </a:extLst>
              </p:cNvPr>
              <p:cNvSpPr/>
              <p:nvPr/>
            </p:nvSpPr>
            <p:spPr>
              <a:xfrm>
                <a:off x="10153215" y="1585456"/>
                <a:ext cx="415844" cy="419223"/>
              </a:xfrm>
              <a:prstGeom prst="ellipse">
                <a:avLst/>
              </a:prstGeom>
              <a:solidFill>
                <a:schemeClr val="accent6">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8" name="Oval 7">
                <a:extLst>
                  <a:ext uri="{FF2B5EF4-FFF2-40B4-BE49-F238E27FC236}">
                    <a16:creationId xmlns:a16="http://schemas.microsoft.com/office/drawing/2014/main" id="{9DF0E436-53EA-A391-BBCA-7DB08691E2D4}"/>
                  </a:ext>
                </a:extLst>
              </p:cNvPr>
              <p:cNvSpPr/>
              <p:nvPr/>
            </p:nvSpPr>
            <p:spPr>
              <a:xfrm>
                <a:off x="11026055" y="2094631"/>
                <a:ext cx="295275" cy="294572"/>
              </a:xfrm>
              <a:prstGeom prst="ellipse">
                <a:avLst/>
              </a:prstGeom>
              <a:solidFill>
                <a:schemeClr val="accent6">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Oval 8">
                <a:extLst>
                  <a:ext uri="{FF2B5EF4-FFF2-40B4-BE49-F238E27FC236}">
                    <a16:creationId xmlns:a16="http://schemas.microsoft.com/office/drawing/2014/main" id="{93383A03-CB24-5383-ACE9-2623125A4331}"/>
                  </a:ext>
                </a:extLst>
              </p:cNvPr>
              <p:cNvSpPr/>
              <p:nvPr/>
            </p:nvSpPr>
            <p:spPr>
              <a:xfrm>
                <a:off x="10730780" y="1646884"/>
                <a:ext cx="295275" cy="294572"/>
              </a:xfrm>
              <a:prstGeom prst="ellipse">
                <a:avLst/>
              </a:prstGeom>
              <a:solidFill>
                <a:schemeClr val="accent5">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chemeClr val="tx1"/>
                  </a:solidFill>
                  <a:latin typeface="Aptos" panose="020B0004020202020204" pitchFamily="34" charset="0"/>
                </a:endParaRPr>
              </a:p>
            </p:txBody>
          </p:sp>
          <p:cxnSp>
            <p:nvCxnSpPr>
              <p:cNvPr id="10" name="Straight Connector 9">
                <a:extLst>
                  <a:ext uri="{FF2B5EF4-FFF2-40B4-BE49-F238E27FC236}">
                    <a16:creationId xmlns:a16="http://schemas.microsoft.com/office/drawing/2014/main" id="{34AB5B92-54C4-6582-D33C-BC8FD86B9D4A}"/>
                  </a:ext>
                </a:extLst>
              </p:cNvPr>
              <p:cNvCxnSpPr>
                <a:cxnSpLocks/>
                <a:stCxn id="7" idx="6"/>
                <a:endCxn id="9" idx="2"/>
              </p:cNvCxnSpPr>
              <p:nvPr/>
            </p:nvCxnSpPr>
            <p:spPr>
              <a:xfrm flipV="1">
                <a:off x="10569059" y="1794170"/>
                <a:ext cx="161721" cy="898"/>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06B50C3-4C49-59C9-61E6-72ADC38AA686}"/>
                  </a:ext>
                </a:extLst>
              </p:cNvPr>
              <p:cNvCxnSpPr>
                <a:cxnSpLocks/>
                <a:stCxn id="8" idx="0"/>
                <a:endCxn id="9" idx="5"/>
              </p:cNvCxnSpPr>
              <p:nvPr/>
            </p:nvCxnSpPr>
            <p:spPr>
              <a:xfrm flipH="1" flipV="1">
                <a:off x="10982813" y="1898317"/>
                <a:ext cx="190880" cy="196314"/>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3544CCD-5974-621C-2BB9-7986D2F73B9C}"/>
                  </a:ext>
                </a:extLst>
              </p:cNvPr>
              <p:cNvCxnSpPr>
                <a:cxnSpLocks/>
                <a:stCxn id="8" idx="2"/>
              </p:cNvCxnSpPr>
              <p:nvPr/>
            </p:nvCxnSpPr>
            <p:spPr>
              <a:xfrm flipH="1">
                <a:off x="10786013" y="2241917"/>
                <a:ext cx="240042" cy="69581"/>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877AAA24-E460-98B6-DE5A-8797E7BA559F}"/>
                  </a:ext>
                </a:extLst>
              </p:cNvPr>
              <p:cNvSpPr/>
              <p:nvPr/>
            </p:nvSpPr>
            <p:spPr>
              <a:xfrm>
                <a:off x="10490738" y="2186753"/>
                <a:ext cx="295275" cy="294572"/>
              </a:xfrm>
              <a:prstGeom prst="ellipse">
                <a:avLst/>
              </a:prstGeom>
              <a:solidFill>
                <a:schemeClr val="accent6">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6" name="Oval 15">
                <a:extLst>
                  <a:ext uri="{FF2B5EF4-FFF2-40B4-BE49-F238E27FC236}">
                    <a16:creationId xmlns:a16="http://schemas.microsoft.com/office/drawing/2014/main" id="{E19CDBC2-B593-1897-F32A-04C1AF219F03}"/>
                  </a:ext>
                </a:extLst>
              </p:cNvPr>
              <p:cNvSpPr/>
              <p:nvPr/>
            </p:nvSpPr>
            <p:spPr>
              <a:xfrm>
                <a:off x="11026055" y="2585226"/>
                <a:ext cx="430221" cy="410221"/>
              </a:xfrm>
              <a:prstGeom prst="ellipse">
                <a:avLst/>
              </a:prstGeom>
              <a:solidFill>
                <a:schemeClr val="accent6">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7" name="Straight Connector 16">
                <a:extLst>
                  <a:ext uri="{FF2B5EF4-FFF2-40B4-BE49-F238E27FC236}">
                    <a16:creationId xmlns:a16="http://schemas.microsoft.com/office/drawing/2014/main" id="{F02D3913-FD01-E46C-0F79-25EF12E39A9E}"/>
                  </a:ext>
                </a:extLst>
              </p:cNvPr>
              <p:cNvCxnSpPr>
                <a:cxnSpLocks/>
                <a:stCxn id="8" idx="4"/>
                <a:endCxn id="16" idx="0"/>
              </p:cNvCxnSpPr>
              <p:nvPr/>
            </p:nvCxnSpPr>
            <p:spPr>
              <a:xfrm>
                <a:off x="11173693" y="2389203"/>
                <a:ext cx="67473" cy="196023"/>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C20E7D7-BF3F-4424-0AA8-5597803FD11B}"/>
                  </a:ext>
                </a:extLst>
              </p:cNvPr>
              <p:cNvCxnSpPr>
                <a:cxnSpLocks/>
                <a:stCxn id="8" idx="6"/>
                <a:endCxn id="28" idx="1"/>
              </p:cNvCxnSpPr>
              <p:nvPr/>
            </p:nvCxnSpPr>
            <p:spPr>
              <a:xfrm>
                <a:off x="11321330" y="2241917"/>
                <a:ext cx="261781" cy="37342"/>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0857BD67-C69D-E8D8-0A93-A39303DCA4A0}"/>
                  </a:ext>
                </a:extLst>
              </p:cNvPr>
              <p:cNvSpPr/>
              <p:nvPr/>
            </p:nvSpPr>
            <p:spPr>
              <a:xfrm>
                <a:off x="11549715" y="2245324"/>
                <a:ext cx="228040" cy="231725"/>
              </a:xfrm>
              <a:prstGeom prst="ellipse">
                <a:avLst/>
              </a:prstGeom>
              <a:solidFill>
                <a:schemeClr val="accent6">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4" name="Straight Connector 33">
                <a:extLst>
                  <a:ext uri="{FF2B5EF4-FFF2-40B4-BE49-F238E27FC236}">
                    <a16:creationId xmlns:a16="http://schemas.microsoft.com/office/drawing/2014/main" id="{8176FE1A-58D1-536D-157B-C1199B031B2E}"/>
                  </a:ext>
                </a:extLst>
              </p:cNvPr>
              <p:cNvCxnSpPr>
                <a:cxnSpLocks/>
                <a:stCxn id="28" idx="3"/>
                <a:endCxn id="16" idx="7"/>
              </p:cNvCxnSpPr>
              <p:nvPr/>
            </p:nvCxnSpPr>
            <p:spPr>
              <a:xfrm flipH="1">
                <a:off x="11393272" y="2443114"/>
                <a:ext cx="189839" cy="202187"/>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sp>
        <p:nvSpPr>
          <p:cNvPr id="13" name="TextBox 12">
            <a:extLst>
              <a:ext uri="{FF2B5EF4-FFF2-40B4-BE49-F238E27FC236}">
                <a16:creationId xmlns:a16="http://schemas.microsoft.com/office/drawing/2014/main" id="{7BC09F55-D235-2714-4408-224ED630CEED}"/>
              </a:ext>
            </a:extLst>
          </p:cNvPr>
          <p:cNvSpPr txBox="1"/>
          <p:nvPr/>
        </p:nvSpPr>
        <p:spPr>
          <a:xfrm>
            <a:off x="6801449" y="1230762"/>
            <a:ext cx="4549721" cy="877163"/>
          </a:xfrm>
          <a:prstGeom prst="rect">
            <a:avLst/>
          </a:prstGeom>
          <a:noFill/>
        </p:spPr>
        <p:txBody>
          <a:bodyPr wrap="square">
            <a:spAutoFit/>
          </a:bodyPr>
          <a:lstStyle/>
          <a:p>
            <a:r>
              <a:rPr lang="hu-HU" sz="1700" dirty="0">
                <a:latin typeface="Aptos" panose="020B0004020202020204" pitchFamily="34" charset="0"/>
                <a:ea typeface="Aptos" panose="020B0004020202020204" pitchFamily="34" charset="0"/>
                <a:cs typeface="Times New Roman" panose="02020603050405020304" pitchFamily="18" charset="0"/>
              </a:rPr>
              <a:t>In the network, each cluster of nodes is annotated with pathways by EnrichR, using the </a:t>
            </a:r>
            <a:r>
              <a:rPr lang="hu-HU" sz="1700" dirty="0">
                <a:latin typeface="Aptos" panose="020B0004020202020204" pitchFamily="34" charset="0"/>
                <a:ea typeface="Aptos" panose="020B0004020202020204" pitchFamily="34" charset="0"/>
                <a:cs typeface="Times New Roman" panose="02020603050405020304" pitchFamily="18" charset="0"/>
                <a:hlinkClick r:id="rId2"/>
              </a:rPr>
              <a:t>Reactome</a:t>
            </a:r>
            <a:r>
              <a:rPr lang="hu-HU" sz="1700" dirty="0">
                <a:latin typeface="Aptos" panose="020B0004020202020204" pitchFamily="34" charset="0"/>
                <a:ea typeface="Aptos" panose="020B0004020202020204" pitchFamily="34" charset="0"/>
                <a:cs typeface="Times New Roman" panose="02020603050405020304" pitchFamily="18" charset="0"/>
              </a:rPr>
              <a:t> db.</a:t>
            </a:r>
            <a:endParaRPr lang="en-NL" sz="1700" dirty="0">
              <a:latin typeface="Aptos" panose="020B0004020202020204" pitchFamily="34" charset="0"/>
              <a:ea typeface="Aptos" panose="020B000402020202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9B6FEB7F-41F6-E9FE-3403-4EDFEC6C6DD2}"/>
              </a:ext>
            </a:extLst>
          </p:cNvPr>
          <p:cNvSpPr txBox="1"/>
          <p:nvPr/>
        </p:nvSpPr>
        <p:spPr>
          <a:xfrm>
            <a:off x="566677" y="1507091"/>
            <a:ext cx="5308603" cy="1138773"/>
          </a:xfrm>
          <a:prstGeom prst="rect">
            <a:avLst/>
          </a:prstGeom>
          <a:noFill/>
        </p:spPr>
        <p:txBody>
          <a:bodyPr wrap="square">
            <a:spAutoFit/>
          </a:bodyPr>
          <a:lstStyle/>
          <a:p>
            <a:r>
              <a:rPr lang="hu-HU" sz="1700" dirty="0">
                <a:effectLst/>
                <a:latin typeface="Aptos" panose="020B0004020202020204" pitchFamily="34" charset="0"/>
                <a:ea typeface="Aptos" panose="020B0004020202020204" pitchFamily="34" charset="0"/>
                <a:cs typeface="Times New Roman" panose="02020603050405020304" pitchFamily="18" charset="0"/>
              </a:rPr>
              <a:t>Networks are generated from high </a:t>
            </a:r>
            <a:r>
              <a:rPr lang="hu-HU" sz="1700" dirty="0">
                <a:latin typeface="Aptos" panose="020B0004020202020204" pitchFamily="34" charset="0"/>
                <a:ea typeface="Aptos" panose="020B0004020202020204" pitchFamily="34" charset="0"/>
                <a:cs typeface="Times New Roman" panose="02020603050405020304" pitchFamily="18" charset="0"/>
              </a:rPr>
              <a:t>scoring* kinases. N</a:t>
            </a:r>
            <a:r>
              <a:rPr lang="en-NL" sz="1700" dirty="0" err="1">
                <a:latin typeface="Aptos" panose="020B0004020202020204" pitchFamily="34" charset="0"/>
              </a:rPr>
              <a:t>etwork</a:t>
            </a:r>
            <a:r>
              <a:rPr lang="hu-HU" sz="1700" dirty="0">
                <a:latin typeface="Aptos" panose="020B0004020202020204" pitchFamily="34" charset="0"/>
              </a:rPr>
              <a:t>s</a:t>
            </a:r>
            <a:r>
              <a:rPr lang="en-NL" sz="1700" dirty="0">
                <a:latin typeface="Aptos" panose="020B0004020202020204" pitchFamily="34" charset="0"/>
              </a:rPr>
              <a:t> connect key kinases through high-confidence links and may </a:t>
            </a:r>
            <a:r>
              <a:rPr lang="hu-HU" sz="1700" dirty="0">
                <a:latin typeface="Aptos" panose="020B0004020202020204" pitchFamily="34" charset="0"/>
              </a:rPr>
              <a:t>include </a:t>
            </a:r>
            <a:r>
              <a:rPr lang="en-NL" sz="1700" dirty="0">
                <a:latin typeface="Aptos" panose="020B0004020202020204" pitchFamily="34" charset="0"/>
              </a:rPr>
              <a:t>high confidence connector </a:t>
            </a:r>
            <a:r>
              <a:rPr lang="hu-HU" sz="1700" dirty="0">
                <a:latin typeface="Aptos" panose="020B0004020202020204" pitchFamily="34" charset="0"/>
              </a:rPr>
              <a:t>(hidden) </a:t>
            </a:r>
            <a:r>
              <a:rPr lang="en-NL" sz="1700" dirty="0">
                <a:latin typeface="Aptos" panose="020B0004020202020204" pitchFamily="34" charset="0"/>
              </a:rPr>
              <a:t>nodes which are not in the data</a:t>
            </a:r>
            <a:r>
              <a:rPr lang="hu-HU" sz="1700" dirty="0">
                <a:latin typeface="Aptos" panose="020B0004020202020204" pitchFamily="34" charset="0"/>
              </a:rPr>
              <a:t>.</a:t>
            </a:r>
            <a:endParaRPr lang="hu-HU" sz="1700" dirty="0">
              <a:latin typeface="Aptos" panose="020B0004020202020204" pitchFamily="34" charset="0"/>
              <a:ea typeface="Aptos" panose="020B0004020202020204" pitchFamily="34" charset="0"/>
              <a:cs typeface="Times New Roman" panose="02020603050405020304" pitchFamily="18" charset="0"/>
            </a:endParaRPr>
          </a:p>
        </p:txBody>
      </p:sp>
      <p:sp>
        <p:nvSpPr>
          <p:cNvPr id="20" name="Arrow: Right 19">
            <a:extLst>
              <a:ext uri="{FF2B5EF4-FFF2-40B4-BE49-F238E27FC236}">
                <a16:creationId xmlns:a16="http://schemas.microsoft.com/office/drawing/2014/main" id="{BB91EF46-32B9-F063-4C06-1C452D5F946C}"/>
              </a:ext>
            </a:extLst>
          </p:cNvPr>
          <p:cNvSpPr/>
          <p:nvPr/>
        </p:nvSpPr>
        <p:spPr>
          <a:xfrm>
            <a:off x="5957774" y="3350756"/>
            <a:ext cx="469481" cy="369488"/>
          </a:xfrm>
          <a:prstGeom prst="rightArrow">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Rectangle 21">
            <a:extLst>
              <a:ext uri="{FF2B5EF4-FFF2-40B4-BE49-F238E27FC236}">
                <a16:creationId xmlns:a16="http://schemas.microsoft.com/office/drawing/2014/main" id="{3E551400-8D34-F906-6BB7-3737CD6C8315}"/>
              </a:ext>
            </a:extLst>
          </p:cNvPr>
          <p:cNvSpPr/>
          <p:nvPr/>
        </p:nvSpPr>
        <p:spPr>
          <a:xfrm>
            <a:off x="405036" y="1030014"/>
            <a:ext cx="5470244" cy="4813162"/>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23" name="Rectangle 22">
            <a:extLst>
              <a:ext uri="{FF2B5EF4-FFF2-40B4-BE49-F238E27FC236}">
                <a16:creationId xmlns:a16="http://schemas.microsoft.com/office/drawing/2014/main" id="{C78126DA-9564-AF16-026B-7221544D6973}"/>
              </a:ext>
            </a:extLst>
          </p:cNvPr>
          <p:cNvSpPr/>
          <p:nvPr/>
        </p:nvSpPr>
        <p:spPr>
          <a:xfrm>
            <a:off x="6509750" y="1030014"/>
            <a:ext cx="5319251" cy="4799933"/>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27" name="TextBox 26">
            <a:extLst>
              <a:ext uri="{FF2B5EF4-FFF2-40B4-BE49-F238E27FC236}">
                <a16:creationId xmlns:a16="http://schemas.microsoft.com/office/drawing/2014/main" id="{13501040-BB63-022F-F6B9-E1876AA16DE3}"/>
              </a:ext>
            </a:extLst>
          </p:cNvPr>
          <p:cNvSpPr txBox="1"/>
          <p:nvPr/>
        </p:nvSpPr>
        <p:spPr>
          <a:xfrm>
            <a:off x="460031" y="4373934"/>
            <a:ext cx="5244662" cy="1400383"/>
          </a:xfrm>
          <a:prstGeom prst="rect">
            <a:avLst/>
          </a:prstGeom>
          <a:noFill/>
        </p:spPr>
        <p:txBody>
          <a:bodyPr wrap="square">
            <a:spAutoFit/>
          </a:bodyPr>
          <a:lstStyle/>
          <a:p>
            <a:pPr lvl="0"/>
            <a:r>
              <a:rPr lang="hu-HU" sz="1700" dirty="0">
                <a:effectLst/>
                <a:latin typeface="Aptos" panose="020B0004020202020204" pitchFamily="34" charset="0"/>
                <a:ea typeface="Aptos" panose="020B0004020202020204" pitchFamily="34" charset="0"/>
                <a:cs typeface="Times New Roman" panose="02020603050405020304" pitchFamily="18" charset="0"/>
              </a:rPr>
              <a:t>Files:</a:t>
            </a:r>
          </a:p>
          <a:p>
            <a:pPr lvl="0"/>
            <a:r>
              <a:rPr lang="hu-HU" sz="1700" b="1" dirty="0">
                <a:effectLst/>
                <a:latin typeface="Aptos" panose="020B0004020202020204" pitchFamily="34" charset="0"/>
                <a:ea typeface="Aptos" panose="020B0004020202020204" pitchFamily="34" charset="0"/>
                <a:cs typeface="Times New Roman" panose="02020603050405020304" pitchFamily="18" charset="0"/>
              </a:rPr>
              <a:t>Network.html: </a:t>
            </a:r>
            <a:r>
              <a:rPr lang="hu-HU" sz="1700" dirty="0">
                <a:effectLst/>
                <a:latin typeface="Aptos" panose="020B0004020202020204" pitchFamily="34" charset="0"/>
                <a:ea typeface="Aptos" panose="020B0004020202020204" pitchFamily="34" charset="0"/>
                <a:cs typeface="Times New Roman" panose="02020603050405020304" pitchFamily="18" charset="0"/>
              </a:rPr>
              <a:t>an interactive network figure which shows the Kinase Statistic (LogFC) and the pathways. Nodes and pathways are searchable. Networks help to understand kinases</a:t>
            </a:r>
            <a:r>
              <a:rPr lang="hu-HU" sz="1700" dirty="0">
                <a:latin typeface="Aptos" panose="020B0004020202020204" pitchFamily="34" charset="0"/>
                <a:ea typeface="Aptos" panose="020B0004020202020204" pitchFamily="34" charset="0"/>
                <a:cs typeface="Times New Roman" panose="02020603050405020304" pitchFamily="18" charset="0"/>
              </a:rPr>
              <a:t> relationships.</a:t>
            </a:r>
            <a:endParaRPr lang="hu-HU" sz="17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494EC193-BEF2-E4DA-E321-B04AAFE39B35}"/>
              </a:ext>
            </a:extLst>
          </p:cNvPr>
          <p:cNvSpPr txBox="1"/>
          <p:nvPr/>
        </p:nvSpPr>
        <p:spPr>
          <a:xfrm>
            <a:off x="6677221" y="4598603"/>
            <a:ext cx="5244660" cy="1138773"/>
          </a:xfrm>
          <a:prstGeom prst="rect">
            <a:avLst/>
          </a:prstGeom>
          <a:noFill/>
        </p:spPr>
        <p:txBody>
          <a:bodyPr wrap="square">
            <a:spAutoFit/>
          </a:bodyPr>
          <a:lstStyle/>
          <a:p>
            <a:pPr lvl="0"/>
            <a:r>
              <a:rPr lang="hu-HU" sz="1700" dirty="0">
                <a:effectLst/>
                <a:latin typeface="Aptos" panose="020B0004020202020204" pitchFamily="34" charset="0"/>
                <a:ea typeface="Aptos" panose="020B0004020202020204" pitchFamily="34" charset="0"/>
                <a:cs typeface="Times New Roman" panose="02020603050405020304" pitchFamily="18" charset="0"/>
              </a:rPr>
              <a:t>Files:</a:t>
            </a:r>
          </a:p>
          <a:p>
            <a:pPr lvl="0"/>
            <a:r>
              <a:rPr lang="hu-HU" sz="1700" b="1" dirty="0">
                <a:effectLst/>
                <a:latin typeface="Aptos" panose="020B0004020202020204" pitchFamily="34" charset="0"/>
                <a:ea typeface="Aptos" panose="020B0004020202020204" pitchFamily="34" charset="0"/>
                <a:cs typeface="Times New Roman" panose="02020603050405020304" pitchFamily="18" charset="0"/>
              </a:rPr>
              <a:t>Kinase_pathway_heatmaps folder</a:t>
            </a:r>
            <a:r>
              <a:rPr lang="hu-HU" sz="1700" dirty="0">
                <a:effectLst/>
                <a:latin typeface="Aptos" panose="020B0004020202020204" pitchFamily="34" charset="0"/>
                <a:ea typeface="Aptos" panose="020B0004020202020204" pitchFamily="34" charset="0"/>
                <a:cs typeface="Times New Roman" panose="02020603050405020304" pitchFamily="18" charset="0"/>
              </a:rPr>
              <a:t>: </a:t>
            </a:r>
            <a:r>
              <a:rPr lang="hu-HU" sz="1700" dirty="0">
                <a:solidFill>
                  <a:srgbClr val="048210"/>
                </a:solidFill>
                <a:effectLst/>
                <a:latin typeface="Aptos" panose="020B0004020202020204" pitchFamily="34" charset="0"/>
                <a:ea typeface="Aptos" panose="020B0004020202020204" pitchFamily="34" charset="0"/>
                <a:cs typeface="Times New Roman" panose="02020603050405020304" pitchFamily="18" charset="0"/>
              </a:rPr>
              <a:t>start exploring pathways with these figures to assess the change in the pathways across comparisons. </a:t>
            </a:r>
            <a:endParaRPr lang="hu-HU" sz="1700" b="1" dirty="0">
              <a:solidFill>
                <a:srgbClr val="048210"/>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2" name="Picture 41">
            <a:extLst>
              <a:ext uri="{FF2B5EF4-FFF2-40B4-BE49-F238E27FC236}">
                <a16:creationId xmlns:a16="http://schemas.microsoft.com/office/drawing/2014/main" id="{4C90C9AE-EDEB-B803-6700-5843987DC87F}"/>
              </a:ext>
            </a:extLst>
          </p:cNvPr>
          <p:cNvPicPr>
            <a:picLocks noChangeAspect="1"/>
          </p:cNvPicPr>
          <p:nvPr/>
        </p:nvPicPr>
        <p:blipFill>
          <a:blip r:embed="rId3"/>
          <a:stretch>
            <a:fillRect/>
          </a:stretch>
        </p:blipFill>
        <p:spPr>
          <a:xfrm>
            <a:off x="7017749" y="2327749"/>
            <a:ext cx="3963423" cy="2128742"/>
          </a:xfrm>
          <a:prstGeom prst="rect">
            <a:avLst/>
          </a:prstGeom>
        </p:spPr>
      </p:pic>
      <p:sp>
        <p:nvSpPr>
          <p:cNvPr id="47" name="TextBox 46">
            <a:extLst>
              <a:ext uri="{FF2B5EF4-FFF2-40B4-BE49-F238E27FC236}">
                <a16:creationId xmlns:a16="http://schemas.microsoft.com/office/drawing/2014/main" id="{13CD6A7B-538E-6B71-82A4-CA3E5CBE7D25}"/>
              </a:ext>
            </a:extLst>
          </p:cNvPr>
          <p:cNvSpPr txBox="1"/>
          <p:nvPr/>
        </p:nvSpPr>
        <p:spPr>
          <a:xfrm>
            <a:off x="7869077" y="2151793"/>
            <a:ext cx="1629103" cy="307777"/>
          </a:xfrm>
          <a:prstGeom prst="rect">
            <a:avLst/>
          </a:prstGeom>
          <a:noFill/>
        </p:spPr>
        <p:txBody>
          <a:bodyPr wrap="square">
            <a:spAutoFit/>
          </a:bodyPr>
          <a:lstStyle/>
          <a:p>
            <a:r>
              <a:rPr lang="hu-HU" sz="1400" dirty="0">
                <a:effectLst/>
                <a:latin typeface="Aptos" panose="020B0004020202020204" pitchFamily="34" charset="0"/>
                <a:ea typeface="Aptos" panose="020B0004020202020204" pitchFamily="34" charset="0"/>
                <a:cs typeface="Times New Roman" panose="02020603050405020304" pitchFamily="18" charset="0"/>
              </a:rPr>
              <a:t>Sensitive – T vs C</a:t>
            </a:r>
            <a:endParaRPr lang="en-NL" sz="1400" dirty="0"/>
          </a:p>
        </p:txBody>
      </p:sp>
      <p:sp>
        <p:nvSpPr>
          <p:cNvPr id="48" name="TextBox 47">
            <a:extLst>
              <a:ext uri="{FF2B5EF4-FFF2-40B4-BE49-F238E27FC236}">
                <a16:creationId xmlns:a16="http://schemas.microsoft.com/office/drawing/2014/main" id="{B5D31717-E70B-5151-3CFE-C2BC822BE264}"/>
              </a:ext>
            </a:extLst>
          </p:cNvPr>
          <p:cNvSpPr txBox="1"/>
          <p:nvPr/>
        </p:nvSpPr>
        <p:spPr>
          <a:xfrm>
            <a:off x="9498180" y="2144996"/>
            <a:ext cx="1629103" cy="307777"/>
          </a:xfrm>
          <a:prstGeom prst="rect">
            <a:avLst/>
          </a:prstGeom>
          <a:noFill/>
        </p:spPr>
        <p:txBody>
          <a:bodyPr wrap="square">
            <a:spAutoFit/>
          </a:bodyPr>
          <a:lstStyle/>
          <a:p>
            <a:r>
              <a:rPr lang="hu-HU" sz="1400" dirty="0">
                <a:effectLst/>
                <a:latin typeface="Aptos" panose="020B0004020202020204" pitchFamily="34" charset="0"/>
                <a:ea typeface="Aptos" panose="020B0004020202020204" pitchFamily="34" charset="0"/>
                <a:cs typeface="Times New Roman" panose="02020603050405020304" pitchFamily="18" charset="0"/>
              </a:rPr>
              <a:t>Resistant – T vs C</a:t>
            </a:r>
            <a:endParaRPr lang="en-NL" sz="1400" dirty="0"/>
          </a:p>
        </p:txBody>
      </p:sp>
    </p:spTree>
    <p:extLst>
      <p:ext uri="{BB962C8B-B14F-4D97-AF65-F5344CB8AC3E}">
        <p14:creationId xmlns:p14="http://schemas.microsoft.com/office/powerpoint/2010/main" val="2773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0F90DD7E-E6F2-C4BE-2559-003CEC21E89C}"/>
              </a:ext>
            </a:extLst>
          </p:cNvPr>
          <p:cNvCxnSpPr>
            <a:cxnSpLocks/>
            <a:stCxn id="74" idx="7"/>
            <a:endCxn id="17" idx="2"/>
          </p:cNvCxnSpPr>
          <p:nvPr/>
        </p:nvCxnSpPr>
        <p:spPr>
          <a:xfrm flipV="1">
            <a:off x="1610048" y="1892091"/>
            <a:ext cx="682314" cy="270021"/>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3C54446-5818-BC6E-C6F6-697D2EE6723D}"/>
              </a:ext>
            </a:extLst>
          </p:cNvPr>
          <p:cNvSpPr>
            <a:spLocks noGrp="1"/>
          </p:cNvSpPr>
          <p:nvPr>
            <p:ph sz="quarter" idx="12"/>
          </p:nvPr>
        </p:nvSpPr>
        <p:spPr>
          <a:xfrm>
            <a:off x="497071" y="-3371"/>
            <a:ext cx="8979104" cy="636442"/>
          </a:xfrm>
        </p:spPr>
        <p:txBody>
          <a:bodyPr/>
          <a:lstStyle/>
          <a:p>
            <a:r>
              <a:rPr lang="hu-HU" sz="3600" dirty="0">
                <a:latin typeface="Calibri Light" panose="020F0302020204030204" pitchFamily="34" charset="0"/>
                <a:ea typeface="Calibri Light" panose="020F0302020204030204" pitchFamily="34" charset="0"/>
                <a:cs typeface="Calibri Light" panose="020F0302020204030204" pitchFamily="34" charset="0"/>
              </a:rPr>
              <a:t>Network generation enhances UKA results</a:t>
            </a:r>
            <a:endParaRPr lang="en-NL" sz="36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1" name="Rectangle 10">
            <a:extLst>
              <a:ext uri="{FF2B5EF4-FFF2-40B4-BE49-F238E27FC236}">
                <a16:creationId xmlns:a16="http://schemas.microsoft.com/office/drawing/2014/main" id="{88814943-524D-D337-55B9-C449DFD0EF6C}"/>
              </a:ext>
            </a:extLst>
          </p:cNvPr>
          <p:cNvSpPr/>
          <p:nvPr/>
        </p:nvSpPr>
        <p:spPr>
          <a:xfrm>
            <a:off x="375628" y="1031191"/>
            <a:ext cx="3359793" cy="6928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u-HU" sz="1600" b="1" dirty="0">
                <a:solidFill>
                  <a:schemeClr val="tx1"/>
                </a:solidFill>
                <a:latin typeface="Aptos" panose="020B0004020202020204" pitchFamily="34" charset="0"/>
              </a:rPr>
              <a:t>INPUTS</a:t>
            </a:r>
            <a:r>
              <a:rPr lang="hu-HU" sz="1600" dirty="0">
                <a:solidFill>
                  <a:schemeClr val="tx1"/>
                </a:solidFill>
                <a:latin typeface="Aptos" panose="020B0004020202020204" pitchFamily="34" charset="0"/>
              </a:rPr>
              <a:t>:</a:t>
            </a:r>
          </a:p>
          <a:p>
            <a:pPr marL="285750" indent="-285750" algn="ctr">
              <a:buFont typeface="Arial" panose="020B0604020202020204" pitchFamily="34" charset="0"/>
              <a:buChar char="•"/>
            </a:pPr>
            <a:r>
              <a:rPr lang="hu-HU" sz="1600" dirty="0">
                <a:solidFill>
                  <a:schemeClr val="tx1"/>
                </a:solidFill>
                <a:latin typeface="Aptos" panose="020B0004020202020204" pitchFamily="34" charset="0"/>
              </a:rPr>
              <a:t>STRING as reference network; </a:t>
            </a:r>
          </a:p>
          <a:p>
            <a:pPr marL="285750" indent="-285750" algn="ctr">
              <a:buFont typeface="Arial" panose="020B0604020202020204" pitchFamily="34" charset="0"/>
              <a:buChar char="•"/>
            </a:pPr>
            <a:r>
              <a:rPr lang="hu-HU" sz="1600" dirty="0">
                <a:solidFill>
                  <a:schemeClr val="tx1"/>
                </a:solidFill>
                <a:latin typeface="Aptos" panose="020B0004020202020204" pitchFamily="34" charset="0"/>
              </a:rPr>
              <a:t>selected nodes from UKA</a:t>
            </a:r>
            <a:endParaRPr lang="en-NL" sz="1600" dirty="0">
              <a:solidFill>
                <a:schemeClr val="tx1"/>
              </a:solidFill>
              <a:latin typeface="Aptos" panose="020B0004020202020204" pitchFamily="34" charset="0"/>
            </a:endParaRPr>
          </a:p>
        </p:txBody>
      </p:sp>
      <p:sp>
        <p:nvSpPr>
          <p:cNvPr id="70" name="Content Placeholder 69">
            <a:extLst>
              <a:ext uri="{FF2B5EF4-FFF2-40B4-BE49-F238E27FC236}">
                <a16:creationId xmlns:a16="http://schemas.microsoft.com/office/drawing/2014/main" id="{2EF0A68D-B0CC-A05B-6148-3BB5CAE323F3}"/>
              </a:ext>
            </a:extLst>
          </p:cNvPr>
          <p:cNvSpPr>
            <a:spLocks noGrp="1"/>
          </p:cNvSpPr>
          <p:nvPr>
            <p:ph sz="quarter" idx="11"/>
          </p:nvPr>
        </p:nvSpPr>
        <p:spPr/>
        <p:txBody>
          <a:bodyPr/>
          <a:lstStyle/>
          <a:p>
            <a:endParaRPr lang="en-NL"/>
          </a:p>
        </p:txBody>
      </p:sp>
      <p:sp>
        <p:nvSpPr>
          <p:cNvPr id="73" name="TextBox 72">
            <a:extLst>
              <a:ext uri="{FF2B5EF4-FFF2-40B4-BE49-F238E27FC236}">
                <a16:creationId xmlns:a16="http://schemas.microsoft.com/office/drawing/2014/main" id="{57E4F80E-AFE6-ECCA-99B7-04569F063904}"/>
              </a:ext>
            </a:extLst>
          </p:cNvPr>
          <p:cNvSpPr txBox="1"/>
          <p:nvPr/>
        </p:nvSpPr>
        <p:spPr>
          <a:xfrm rot="16200000">
            <a:off x="-840838" y="4093736"/>
            <a:ext cx="2414207" cy="261610"/>
          </a:xfrm>
          <a:prstGeom prst="rect">
            <a:avLst/>
          </a:prstGeom>
          <a:noFill/>
        </p:spPr>
        <p:txBody>
          <a:bodyPr wrap="square">
            <a:spAutoFit/>
          </a:bodyPr>
          <a:lstStyle/>
          <a:p>
            <a:r>
              <a:rPr lang="hu-HU" sz="1050" dirty="0">
                <a:latin typeface="Aptos" panose="020B0004020202020204" pitchFamily="34" charset="0"/>
              </a:rPr>
              <a:t>Based on </a:t>
            </a:r>
            <a:r>
              <a:rPr lang="hu-HU" sz="1050" dirty="0">
                <a:latin typeface="Aptos" panose="020B0004020202020204" pitchFamily="34" charset="0"/>
                <a:hlinkClick r:id="rId3"/>
              </a:rPr>
              <a:t>(Arici &amp; Tuncbag, 2021)</a:t>
            </a:r>
            <a:endParaRPr lang="hu-HU" sz="1050" dirty="0">
              <a:latin typeface="Aptos" panose="020B0004020202020204" pitchFamily="34" charset="0"/>
            </a:endParaRPr>
          </a:p>
        </p:txBody>
      </p:sp>
      <p:sp>
        <p:nvSpPr>
          <p:cNvPr id="74" name="Oval 73">
            <a:extLst>
              <a:ext uri="{FF2B5EF4-FFF2-40B4-BE49-F238E27FC236}">
                <a16:creationId xmlns:a16="http://schemas.microsoft.com/office/drawing/2014/main" id="{F8296A3E-472A-1BDF-9474-E96FE771D8BF}"/>
              </a:ext>
            </a:extLst>
          </p:cNvPr>
          <p:cNvSpPr/>
          <p:nvPr/>
        </p:nvSpPr>
        <p:spPr>
          <a:xfrm>
            <a:off x="1255103" y="2100718"/>
            <a:ext cx="415844" cy="419223"/>
          </a:xfrm>
          <a:prstGeom prst="ellipse">
            <a:avLst/>
          </a:prstGeom>
          <a:solidFill>
            <a:schemeClr val="accent6">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5" name="Oval 74">
            <a:extLst>
              <a:ext uri="{FF2B5EF4-FFF2-40B4-BE49-F238E27FC236}">
                <a16:creationId xmlns:a16="http://schemas.microsoft.com/office/drawing/2014/main" id="{5261E656-5475-4362-CD39-E755E22A75D4}"/>
              </a:ext>
            </a:extLst>
          </p:cNvPr>
          <p:cNvSpPr/>
          <p:nvPr/>
        </p:nvSpPr>
        <p:spPr>
          <a:xfrm>
            <a:off x="1688004" y="2631783"/>
            <a:ext cx="295275" cy="294572"/>
          </a:xfrm>
          <a:prstGeom prst="ellipse">
            <a:avLst/>
          </a:prstGeom>
          <a:solidFill>
            <a:schemeClr val="bg1">
              <a:lumMod val="75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u-HU" dirty="0">
                <a:solidFill>
                  <a:schemeClr val="tx1"/>
                </a:solidFill>
                <a:latin typeface="Aptos" panose="020B0004020202020204" pitchFamily="34" charset="0"/>
              </a:rPr>
              <a:t>5</a:t>
            </a:r>
            <a:endParaRPr lang="en-NL" dirty="0">
              <a:solidFill>
                <a:schemeClr val="tx1"/>
              </a:solidFill>
              <a:latin typeface="Aptos" panose="020B0004020202020204" pitchFamily="34" charset="0"/>
            </a:endParaRPr>
          </a:p>
        </p:txBody>
      </p:sp>
      <p:sp>
        <p:nvSpPr>
          <p:cNvPr id="76" name="Oval 75">
            <a:extLst>
              <a:ext uri="{FF2B5EF4-FFF2-40B4-BE49-F238E27FC236}">
                <a16:creationId xmlns:a16="http://schemas.microsoft.com/office/drawing/2014/main" id="{DDC67CC8-7F04-609B-892E-3E12963C1076}"/>
              </a:ext>
            </a:extLst>
          </p:cNvPr>
          <p:cNvSpPr/>
          <p:nvPr/>
        </p:nvSpPr>
        <p:spPr>
          <a:xfrm>
            <a:off x="2250937" y="2554507"/>
            <a:ext cx="295275" cy="294572"/>
          </a:xfrm>
          <a:prstGeom prst="ellipse">
            <a:avLst/>
          </a:prstGeom>
          <a:solidFill>
            <a:schemeClr val="accent6">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7" name="Oval 76">
            <a:extLst>
              <a:ext uri="{FF2B5EF4-FFF2-40B4-BE49-F238E27FC236}">
                <a16:creationId xmlns:a16="http://schemas.microsoft.com/office/drawing/2014/main" id="{66F8F140-0E6A-C59D-FA42-5BB7B67BEBD8}"/>
              </a:ext>
            </a:extLst>
          </p:cNvPr>
          <p:cNvSpPr/>
          <p:nvPr/>
        </p:nvSpPr>
        <p:spPr>
          <a:xfrm>
            <a:off x="1863258" y="1971342"/>
            <a:ext cx="295275" cy="294572"/>
          </a:xfrm>
          <a:prstGeom prst="ellipse">
            <a:avLst/>
          </a:prstGeom>
          <a:solidFill>
            <a:schemeClr val="bg1">
              <a:lumMod val="75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u-HU" dirty="0">
                <a:solidFill>
                  <a:schemeClr val="tx1"/>
                </a:solidFill>
                <a:latin typeface="Aptos" panose="020B0004020202020204" pitchFamily="34" charset="0"/>
              </a:rPr>
              <a:t>6</a:t>
            </a:r>
            <a:endParaRPr lang="en-NL" dirty="0">
              <a:solidFill>
                <a:schemeClr val="tx1"/>
              </a:solidFill>
              <a:latin typeface="Aptos" panose="020B0004020202020204" pitchFamily="34" charset="0"/>
            </a:endParaRPr>
          </a:p>
        </p:txBody>
      </p:sp>
      <p:sp>
        <p:nvSpPr>
          <p:cNvPr id="78" name="Oval 77">
            <a:extLst>
              <a:ext uri="{FF2B5EF4-FFF2-40B4-BE49-F238E27FC236}">
                <a16:creationId xmlns:a16="http://schemas.microsoft.com/office/drawing/2014/main" id="{6B168850-DC5B-2DE3-83D5-B1659407D810}"/>
              </a:ext>
            </a:extLst>
          </p:cNvPr>
          <p:cNvSpPr/>
          <p:nvPr/>
        </p:nvSpPr>
        <p:spPr>
          <a:xfrm>
            <a:off x="2158533" y="3065621"/>
            <a:ext cx="267659" cy="272135"/>
          </a:xfrm>
          <a:prstGeom prst="ellipse">
            <a:avLst/>
          </a:prstGeom>
          <a:solidFill>
            <a:schemeClr val="accent6">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9" name="Oval 78">
            <a:extLst>
              <a:ext uri="{FF2B5EF4-FFF2-40B4-BE49-F238E27FC236}">
                <a16:creationId xmlns:a16="http://schemas.microsoft.com/office/drawing/2014/main" id="{22910115-32F5-1B67-BF1D-B6AE92747909}"/>
              </a:ext>
            </a:extLst>
          </p:cNvPr>
          <p:cNvSpPr/>
          <p:nvPr/>
        </p:nvSpPr>
        <p:spPr>
          <a:xfrm>
            <a:off x="1161440" y="2891452"/>
            <a:ext cx="295275" cy="294572"/>
          </a:xfrm>
          <a:prstGeom prst="ellipse">
            <a:avLst/>
          </a:prstGeom>
          <a:solidFill>
            <a:schemeClr val="bg1">
              <a:lumMod val="75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u-HU" dirty="0">
                <a:solidFill>
                  <a:schemeClr val="tx1"/>
                </a:solidFill>
                <a:latin typeface="Aptos" panose="020B0004020202020204" pitchFamily="34" charset="0"/>
              </a:rPr>
              <a:t>4</a:t>
            </a:r>
            <a:endParaRPr lang="en-NL" dirty="0">
              <a:solidFill>
                <a:schemeClr val="tx1"/>
              </a:solidFill>
              <a:latin typeface="Aptos" panose="020B0004020202020204" pitchFamily="34" charset="0"/>
            </a:endParaRPr>
          </a:p>
        </p:txBody>
      </p:sp>
      <p:sp>
        <p:nvSpPr>
          <p:cNvPr id="80" name="Oval 79">
            <a:extLst>
              <a:ext uri="{FF2B5EF4-FFF2-40B4-BE49-F238E27FC236}">
                <a16:creationId xmlns:a16="http://schemas.microsoft.com/office/drawing/2014/main" id="{C7B39436-EFFA-A7A4-2C1B-5DC6A9263681}"/>
              </a:ext>
            </a:extLst>
          </p:cNvPr>
          <p:cNvSpPr/>
          <p:nvPr/>
        </p:nvSpPr>
        <p:spPr>
          <a:xfrm>
            <a:off x="1604353" y="3108519"/>
            <a:ext cx="295275" cy="294572"/>
          </a:xfrm>
          <a:prstGeom prst="ellipse">
            <a:avLst/>
          </a:prstGeom>
          <a:solidFill>
            <a:schemeClr val="bg1">
              <a:lumMod val="75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u-HU" dirty="0">
                <a:solidFill>
                  <a:schemeClr val="tx1"/>
                </a:solidFill>
                <a:latin typeface="Aptos" panose="020B0004020202020204" pitchFamily="34" charset="0"/>
              </a:rPr>
              <a:t>3</a:t>
            </a:r>
            <a:endParaRPr lang="en-NL" dirty="0">
              <a:solidFill>
                <a:schemeClr val="tx1"/>
              </a:solidFill>
              <a:latin typeface="Aptos" panose="020B0004020202020204" pitchFamily="34" charset="0"/>
            </a:endParaRPr>
          </a:p>
        </p:txBody>
      </p:sp>
      <p:sp>
        <p:nvSpPr>
          <p:cNvPr id="81" name="Oval 80">
            <a:extLst>
              <a:ext uri="{FF2B5EF4-FFF2-40B4-BE49-F238E27FC236}">
                <a16:creationId xmlns:a16="http://schemas.microsoft.com/office/drawing/2014/main" id="{93E56368-811D-0A54-3110-38065E9F21C5}"/>
              </a:ext>
            </a:extLst>
          </p:cNvPr>
          <p:cNvSpPr/>
          <p:nvPr/>
        </p:nvSpPr>
        <p:spPr>
          <a:xfrm>
            <a:off x="1523309" y="3650518"/>
            <a:ext cx="295275" cy="294572"/>
          </a:xfrm>
          <a:prstGeom prst="ellipse">
            <a:avLst/>
          </a:prstGeom>
          <a:solidFill>
            <a:schemeClr val="bg1">
              <a:lumMod val="75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u-HU" dirty="0">
                <a:solidFill>
                  <a:schemeClr val="tx1"/>
                </a:solidFill>
                <a:latin typeface="Aptos" panose="020B0004020202020204" pitchFamily="34" charset="0"/>
              </a:rPr>
              <a:t>1</a:t>
            </a:r>
            <a:endParaRPr lang="en-NL" dirty="0">
              <a:solidFill>
                <a:schemeClr val="tx1"/>
              </a:solidFill>
              <a:latin typeface="Aptos" panose="020B0004020202020204" pitchFamily="34" charset="0"/>
            </a:endParaRPr>
          </a:p>
        </p:txBody>
      </p:sp>
      <p:sp>
        <p:nvSpPr>
          <p:cNvPr id="82" name="Oval 81">
            <a:extLst>
              <a:ext uri="{FF2B5EF4-FFF2-40B4-BE49-F238E27FC236}">
                <a16:creationId xmlns:a16="http://schemas.microsoft.com/office/drawing/2014/main" id="{EA1A31EE-ACA8-8940-1012-6586BB2F7649}"/>
              </a:ext>
            </a:extLst>
          </p:cNvPr>
          <p:cNvSpPr/>
          <p:nvPr/>
        </p:nvSpPr>
        <p:spPr>
          <a:xfrm>
            <a:off x="2113859" y="3704835"/>
            <a:ext cx="295275" cy="294572"/>
          </a:xfrm>
          <a:prstGeom prst="ellipse">
            <a:avLst/>
          </a:prstGeom>
          <a:solidFill>
            <a:schemeClr val="bg1">
              <a:lumMod val="75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u-HU" dirty="0">
                <a:solidFill>
                  <a:schemeClr val="tx1"/>
                </a:solidFill>
                <a:latin typeface="Aptos" panose="020B0004020202020204" pitchFamily="34" charset="0"/>
              </a:rPr>
              <a:t>2</a:t>
            </a:r>
            <a:endParaRPr lang="en-NL" dirty="0">
              <a:solidFill>
                <a:schemeClr val="tx1"/>
              </a:solidFill>
              <a:latin typeface="Aptos" panose="020B0004020202020204" pitchFamily="34" charset="0"/>
            </a:endParaRPr>
          </a:p>
        </p:txBody>
      </p:sp>
      <p:cxnSp>
        <p:nvCxnSpPr>
          <p:cNvPr id="85" name="Straight Connector 84">
            <a:extLst>
              <a:ext uri="{FF2B5EF4-FFF2-40B4-BE49-F238E27FC236}">
                <a16:creationId xmlns:a16="http://schemas.microsoft.com/office/drawing/2014/main" id="{92693179-0BF0-FCE0-B752-F38BDC4AD721}"/>
              </a:ext>
            </a:extLst>
          </p:cNvPr>
          <p:cNvCxnSpPr>
            <a:stCxn id="81" idx="6"/>
            <a:endCxn id="82" idx="2"/>
          </p:cNvCxnSpPr>
          <p:nvPr/>
        </p:nvCxnSpPr>
        <p:spPr>
          <a:xfrm>
            <a:off x="1818584" y="3797804"/>
            <a:ext cx="295275" cy="54317"/>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988DF99A-6B88-25C3-D35C-5F0A699F227B}"/>
              </a:ext>
            </a:extLst>
          </p:cNvPr>
          <p:cNvCxnSpPr>
            <a:cxnSpLocks/>
            <a:stCxn id="81" idx="0"/>
            <a:endCxn id="80" idx="4"/>
          </p:cNvCxnSpPr>
          <p:nvPr/>
        </p:nvCxnSpPr>
        <p:spPr>
          <a:xfrm flipV="1">
            <a:off x="1670947" y="3403091"/>
            <a:ext cx="81044" cy="247427"/>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76EB81B-BB97-135A-CCF3-57C0E26CC28A}"/>
              </a:ext>
            </a:extLst>
          </p:cNvPr>
          <p:cNvCxnSpPr>
            <a:cxnSpLocks/>
            <a:stCxn id="82" idx="0"/>
            <a:endCxn id="78" idx="4"/>
          </p:cNvCxnSpPr>
          <p:nvPr/>
        </p:nvCxnSpPr>
        <p:spPr>
          <a:xfrm flipV="1">
            <a:off x="2261497" y="3337756"/>
            <a:ext cx="30866" cy="367079"/>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8BE7A6A-2562-1520-F604-C5D2747D2673}"/>
              </a:ext>
            </a:extLst>
          </p:cNvPr>
          <p:cNvCxnSpPr>
            <a:cxnSpLocks/>
            <a:stCxn id="78" idx="2"/>
            <a:endCxn id="80" idx="6"/>
          </p:cNvCxnSpPr>
          <p:nvPr/>
        </p:nvCxnSpPr>
        <p:spPr>
          <a:xfrm flipH="1">
            <a:off x="1899628" y="3201689"/>
            <a:ext cx="258905" cy="54116"/>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AFDE1B7C-E27C-EE75-A6D3-7BE49031014B}"/>
              </a:ext>
            </a:extLst>
          </p:cNvPr>
          <p:cNvCxnSpPr>
            <a:cxnSpLocks/>
            <a:stCxn id="76" idx="4"/>
            <a:endCxn id="78" idx="0"/>
          </p:cNvCxnSpPr>
          <p:nvPr/>
        </p:nvCxnSpPr>
        <p:spPr>
          <a:xfrm flipH="1">
            <a:off x="2292363" y="2849079"/>
            <a:ext cx="106212" cy="216542"/>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E66280C4-D577-A89B-0DD5-66F6E89B0169}"/>
              </a:ext>
            </a:extLst>
          </p:cNvPr>
          <p:cNvCxnSpPr>
            <a:cxnSpLocks/>
            <a:stCxn id="75" idx="6"/>
            <a:endCxn id="76" idx="2"/>
          </p:cNvCxnSpPr>
          <p:nvPr/>
        </p:nvCxnSpPr>
        <p:spPr>
          <a:xfrm flipV="1">
            <a:off x="1983279" y="2701793"/>
            <a:ext cx="267658" cy="77276"/>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9BDF1EE-0B7A-0F6E-2096-0D823F52CEE9}"/>
              </a:ext>
            </a:extLst>
          </p:cNvPr>
          <p:cNvCxnSpPr>
            <a:cxnSpLocks/>
            <a:stCxn id="75" idx="4"/>
            <a:endCxn id="80" idx="0"/>
          </p:cNvCxnSpPr>
          <p:nvPr/>
        </p:nvCxnSpPr>
        <p:spPr>
          <a:xfrm flipH="1">
            <a:off x="1751991" y="2926355"/>
            <a:ext cx="83651" cy="182164"/>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D3EB9D98-D8F1-9BE1-8BF2-477A76CE382C}"/>
              </a:ext>
            </a:extLst>
          </p:cNvPr>
          <p:cNvCxnSpPr>
            <a:cxnSpLocks/>
            <a:stCxn id="80" idx="2"/>
            <a:endCxn id="79" idx="5"/>
          </p:cNvCxnSpPr>
          <p:nvPr/>
        </p:nvCxnSpPr>
        <p:spPr>
          <a:xfrm flipH="1" flipV="1">
            <a:off x="1413473" y="3142885"/>
            <a:ext cx="190880" cy="11292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5EA3942-4C34-74AF-0AB7-F83D50F42BDC}"/>
              </a:ext>
            </a:extLst>
          </p:cNvPr>
          <p:cNvCxnSpPr>
            <a:cxnSpLocks/>
            <a:stCxn id="74" idx="4"/>
            <a:endCxn id="79" idx="0"/>
          </p:cNvCxnSpPr>
          <p:nvPr/>
        </p:nvCxnSpPr>
        <p:spPr>
          <a:xfrm flipH="1">
            <a:off x="1309078" y="2519941"/>
            <a:ext cx="153947" cy="371511"/>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8335E4E0-0877-7B32-F3B5-13C85F3CB62D}"/>
              </a:ext>
            </a:extLst>
          </p:cNvPr>
          <p:cNvCxnSpPr>
            <a:cxnSpLocks/>
            <a:stCxn id="74" idx="7"/>
            <a:endCxn id="77" idx="2"/>
          </p:cNvCxnSpPr>
          <p:nvPr/>
        </p:nvCxnSpPr>
        <p:spPr>
          <a:xfrm flipV="1">
            <a:off x="1610048" y="2118628"/>
            <a:ext cx="253210" cy="43484"/>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E38DFEA0-C180-46EB-FC72-718929F4559E}"/>
              </a:ext>
            </a:extLst>
          </p:cNvPr>
          <p:cNvCxnSpPr>
            <a:cxnSpLocks/>
            <a:stCxn id="76" idx="0"/>
            <a:endCxn id="77" idx="5"/>
          </p:cNvCxnSpPr>
          <p:nvPr/>
        </p:nvCxnSpPr>
        <p:spPr>
          <a:xfrm flipH="1" flipV="1">
            <a:off x="2115291" y="2222775"/>
            <a:ext cx="283284" cy="331732"/>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27" name="Straight Connector 1026">
            <a:extLst>
              <a:ext uri="{FF2B5EF4-FFF2-40B4-BE49-F238E27FC236}">
                <a16:creationId xmlns:a16="http://schemas.microsoft.com/office/drawing/2014/main" id="{6B9E64B7-9B5C-617B-735D-982AE345A325}"/>
              </a:ext>
            </a:extLst>
          </p:cNvPr>
          <p:cNvCxnSpPr>
            <a:cxnSpLocks/>
            <a:stCxn id="74" idx="5"/>
            <a:endCxn id="75" idx="1"/>
          </p:cNvCxnSpPr>
          <p:nvPr/>
        </p:nvCxnSpPr>
        <p:spPr>
          <a:xfrm>
            <a:off x="1610048" y="2458547"/>
            <a:ext cx="121198" cy="216375"/>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073" name="Oval 1072">
            <a:extLst>
              <a:ext uri="{FF2B5EF4-FFF2-40B4-BE49-F238E27FC236}">
                <a16:creationId xmlns:a16="http://schemas.microsoft.com/office/drawing/2014/main" id="{E5C5E340-6C8E-9114-1022-4219C5C0E768}"/>
              </a:ext>
            </a:extLst>
          </p:cNvPr>
          <p:cNvSpPr/>
          <p:nvPr/>
        </p:nvSpPr>
        <p:spPr>
          <a:xfrm>
            <a:off x="1315111" y="4344657"/>
            <a:ext cx="192311" cy="192461"/>
          </a:xfrm>
          <a:prstGeom prst="ellipse">
            <a:avLst/>
          </a:prstGeom>
          <a:solidFill>
            <a:schemeClr val="bg1">
              <a:lumMod val="75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074" name="Straight Connector 1073">
            <a:extLst>
              <a:ext uri="{FF2B5EF4-FFF2-40B4-BE49-F238E27FC236}">
                <a16:creationId xmlns:a16="http://schemas.microsoft.com/office/drawing/2014/main" id="{328BDA87-92A9-F4BD-5E3C-BA3E5848A9A9}"/>
              </a:ext>
            </a:extLst>
          </p:cNvPr>
          <p:cNvCxnSpPr>
            <a:cxnSpLocks/>
          </p:cNvCxnSpPr>
          <p:nvPr/>
        </p:nvCxnSpPr>
        <p:spPr>
          <a:xfrm>
            <a:off x="1296584" y="5731787"/>
            <a:ext cx="343207"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75" name="Straight Connector 1074">
            <a:extLst>
              <a:ext uri="{FF2B5EF4-FFF2-40B4-BE49-F238E27FC236}">
                <a16:creationId xmlns:a16="http://schemas.microsoft.com/office/drawing/2014/main" id="{CC8B459E-CA83-FB53-BBFA-254AE0244B85}"/>
              </a:ext>
            </a:extLst>
          </p:cNvPr>
          <p:cNvCxnSpPr>
            <a:cxnSpLocks/>
          </p:cNvCxnSpPr>
          <p:nvPr/>
        </p:nvCxnSpPr>
        <p:spPr>
          <a:xfrm>
            <a:off x="1296584" y="6069008"/>
            <a:ext cx="343207"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077" name="Rectangle 1076">
            <a:extLst>
              <a:ext uri="{FF2B5EF4-FFF2-40B4-BE49-F238E27FC236}">
                <a16:creationId xmlns:a16="http://schemas.microsoft.com/office/drawing/2014/main" id="{60CB0239-CB36-A9DB-B22A-F2B0B6E06904}"/>
              </a:ext>
            </a:extLst>
          </p:cNvPr>
          <p:cNvSpPr/>
          <p:nvPr/>
        </p:nvSpPr>
        <p:spPr>
          <a:xfrm>
            <a:off x="1512274" y="4459173"/>
            <a:ext cx="1934525" cy="5619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hu-HU" sz="1600" dirty="0">
                <a:solidFill>
                  <a:schemeClr val="tx1"/>
                </a:solidFill>
                <a:latin typeface="Aptos" panose="020B0004020202020204" pitchFamily="34" charset="0"/>
              </a:rPr>
              <a:t>Nodes</a:t>
            </a:r>
          </a:p>
          <a:p>
            <a:pPr>
              <a:spcAft>
                <a:spcPts val="600"/>
              </a:spcAft>
            </a:pPr>
            <a:r>
              <a:rPr lang="hu-HU" sz="1600" dirty="0">
                <a:solidFill>
                  <a:schemeClr val="tx1"/>
                </a:solidFill>
                <a:latin typeface="Aptos" panose="020B0004020202020204" pitchFamily="34" charset="0"/>
              </a:rPr>
              <a:t>Input nodes </a:t>
            </a:r>
            <a:br>
              <a:rPr lang="hu-HU" sz="1600" dirty="0">
                <a:solidFill>
                  <a:schemeClr val="tx1"/>
                </a:solidFill>
                <a:latin typeface="Aptos" panose="020B0004020202020204" pitchFamily="34" charset="0"/>
              </a:rPr>
            </a:br>
            <a:r>
              <a:rPr lang="hu-HU" sz="1600" dirty="0">
                <a:solidFill>
                  <a:schemeClr val="tx1"/>
                </a:solidFill>
                <a:latin typeface="Aptos" panose="020B0004020202020204" pitchFamily="34" charset="0"/>
              </a:rPr>
              <a:t>(size ~ LFC)</a:t>
            </a:r>
          </a:p>
        </p:txBody>
      </p:sp>
      <p:sp>
        <p:nvSpPr>
          <p:cNvPr id="1078" name="Oval 1077">
            <a:extLst>
              <a:ext uri="{FF2B5EF4-FFF2-40B4-BE49-F238E27FC236}">
                <a16:creationId xmlns:a16="http://schemas.microsoft.com/office/drawing/2014/main" id="{CAD02933-6A18-22C0-7923-29DEFFB3F410}"/>
              </a:ext>
            </a:extLst>
          </p:cNvPr>
          <p:cNvSpPr/>
          <p:nvPr/>
        </p:nvSpPr>
        <p:spPr>
          <a:xfrm>
            <a:off x="1317381" y="4714171"/>
            <a:ext cx="192311" cy="192461"/>
          </a:xfrm>
          <a:prstGeom prst="ellipse">
            <a:avLst/>
          </a:prstGeom>
          <a:solidFill>
            <a:schemeClr val="accent6">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81" name="Rectangle 1080">
            <a:extLst>
              <a:ext uri="{FF2B5EF4-FFF2-40B4-BE49-F238E27FC236}">
                <a16:creationId xmlns:a16="http://schemas.microsoft.com/office/drawing/2014/main" id="{862DBE81-1E03-C4D9-0E35-390FAE513DDA}"/>
              </a:ext>
            </a:extLst>
          </p:cNvPr>
          <p:cNvSpPr/>
          <p:nvPr/>
        </p:nvSpPr>
        <p:spPr>
          <a:xfrm>
            <a:off x="1639791" y="5591737"/>
            <a:ext cx="2691250" cy="5619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hu-HU" sz="1600" dirty="0">
                <a:solidFill>
                  <a:schemeClr val="tx1"/>
                </a:solidFill>
                <a:latin typeface="Aptos" panose="020B0004020202020204" pitchFamily="34" charset="0"/>
              </a:rPr>
              <a:t>High evidence edge</a:t>
            </a:r>
          </a:p>
          <a:p>
            <a:pPr>
              <a:spcAft>
                <a:spcPts val="600"/>
              </a:spcAft>
            </a:pPr>
            <a:r>
              <a:rPr lang="hu-HU" sz="1600" dirty="0">
                <a:solidFill>
                  <a:schemeClr val="tx1"/>
                </a:solidFill>
                <a:latin typeface="Aptos" panose="020B0004020202020204" pitchFamily="34" charset="0"/>
              </a:rPr>
              <a:t>Low evidence edge</a:t>
            </a:r>
            <a:endParaRPr lang="en-NL" sz="1600" dirty="0">
              <a:solidFill>
                <a:schemeClr val="tx1"/>
              </a:solidFill>
              <a:latin typeface="Aptos" panose="020B0004020202020204" pitchFamily="34" charset="0"/>
            </a:endParaRPr>
          </a:p>
        </p:txBody>
      </p:sp>
      <p:sp>
        <p:nvSpPr>
          <p:cNvPr id="20" name="Oval 19">
            <a:extLst>
              <a:ext uri="{FF2B5EF4-FFF2-40B4-BE49-F238E27FC236}">
                <a16:creationId xmlns:a16="http://schemas.microsoft.com/office/drawing/2014/main" id="{BD3B62E7-856B-52D9-78A8-513EC00BCA9A}"/>
              </a:ext>
            </a:extLst>
          </p:cNvPr>
          <p:cNvSpPr/>
          <p:nvPr/>
        </p:nvSpPr>
        <p:spPr>
          <a:xfrm>
            <a:off x="1116144" y="3628783"/>
            <a:ext cx="168507" cy="169021"/>
          </a:xfrm>
          <a:prstGeom prst="ellipse">
            <a:avLst/>
          </a:prstGeom>
          <a:solidFill>
            <a:schemeClr val="accent6">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1" name="Straight Connector 20">
            <a:extLst>
              <a:ext uri="{FF2B5EF4-FFF2-40B4-BE49-F238E27FC236}">
                <a16:creationId xmlns:a16="http://schemas.microsoft.com/office/drawing/2014/main" id="{C20A02E6-FE78-955D-42B5-E15E7C79D6D6}"/>
              </a:ext>
            </a:extLst>
          </p:cNvPr>
          <p:cNvCxnSpPr>
            <a:cxnSpLocks/>
            <a:stCxn id="20" idx="6"/>
            <a:endCxn id="81" idx="2"/>
          </p:cNvCxnSpPr>
          <p:nvPr/>
        </p:nvCxnSpPr>
        <p:spPr>
          <a:xfrm>
            <a:off x="1284651" y="3713294"/>
            <a:ext cx="238658" cy="8451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21328D47-92DE-B9DB-F248-913F3FC3EF08}"/>
              </a:ext>
            </a:extLst>
          </p:cNvPr>
          <p:cNvGrpSpPr/>
          <p:nvPr/>
        </p:nvGrpSpPr>
        <p:grpSpPr>
          <a:xfrm>
            <a:off x="2762593" y="1050302"/>
            <a:ext cx="9293220" cy="5335450"/>
            <a:chOff x="2762593" y="1050302"/>
            <a:chExt cx="9293220" cy="5335450"/>
          </a:xfrm>
        </p:grpSpPr>
        <p:sp>
          <p:nvSpPr>
            <p:cNvPr id="1079" name="Oval 1078">
              <a:extLst>
                <a:ext uri="{FF2B5EF4-FFF2-40B4-BE49-F238E27FC236}">
                  <a16:creationId xmlns:a16="http://schemas.microsoft.com/office/drawing/2014/main" id="{8B21FFDE-4D1D-DC19-37E1-FAA5347846A1}"/>
                </a:ext>
              </a:extLst>
            </p:cNvPr>
            <p:cNvSpPr/>
            <p:nvPr/>
          </p:nvSpPr>
          <p:spPr>
            <a:xfrm>
              <a:off x="4024197" y="5196302"/>
              <a:ext cx="192311" cy="192461"/>
            </a:xfrm>
            <a:prstGeom prst="ellipse">
              <a:avLst/>
            </a:prstGeom>
            <a:solidFill>
              <a:schemeClr val="accent5">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grpSp>
          <p:nvGrpSpPr>
            <p:cNvPr id="8" name="Group 7">
              <a:extLst>
                <a:ext uri="{FF2B5EF4-FFF2-40B4-BE49-F238E27FC236}">
                  <a16:creationId xmlns:a16="http://schemas.microsoft.com/office/drawing/2014/main" id="{8B5B65C2-3C29-6A63-5358-B7AA47590211}"/>
                </a:ext>
              </a:extLst>
            </p:cNvPr>
            <p:cNvGrpSpPr/>
            <p:nvPr/>
          </p:nvGrpSpPr>
          <p:grpSpPr>
            <a:xfrm>
              <a:off x="2762593" y="1050302"/>
              <a:ext cx="9293220" cy="5335450"/>
              <a:chOff x="2762593" y="1050302"/>
              <a:chExt cx="9293220" cy="5335450"/>
            </a:xfrm>
          </p:grpSpPr>
          <p:sp>
            <p:nvSpPr>
              <p:cNvPr id="5" name="TextBox 4">
                <a:extLst>
                  <a:ext uri="{FF2B5EF4-FFF2-40B4-BE49-F238E27FC236}">
                    <a16:creationId xmlns:a16="http://schemas.microsoft.com/office/drawing/2014/main" id="{269FA291-D942-CA8E-2AC3-B1851F0FF44B}"/>
                  </a:ext>
                </a:extLst>
              </p:cNvPr>
              <p:cNvSpPr txBox="1"/>
              <p:nvPr/>
            </p:nvSpPr>
            <p:spPr>
              <a:xfrm>
                <a:off x="6223912" y="5431645"/>
                <a:ext cx="5831901" cy="954107"/>
              </a:xfrm>
              <a:prstGeom prst="rect">
                <a:avLst/>
              </a:prstGeom>
              <a:solidFill>
                <a:schemeClr val="bg1">
                  <a:lumMod val="85000"/>
                </a:schemeClr>
              </a:solidFill>
              <a:ln>
                <a:solidFill>
                  <a:schemeClr val="tx1">
                    <a:lumMod val="50000"/>
                    <a:lumOff val="50000"/>
                  </a:schemeClr>
                </a:solidFill>
              </a:ln>
            </p:spPr>
            <p:txBody>
              <a:bodyPr wrap="square">
                <a:spAutoFit/>
              </a:bodyPr>
              <a:lstStyle/>
              <a:p>
                <a:pPr>
                  <a:buNone/>
                </a:pPr>
                <a:r>
                  <a:rPr lang="hu-HU" sz="1400" dirty="0">
                    <a:latin typeface="Aptos" panose="020B0004020202020204" pitchFamily="34" charset="0"/>
                  </a:rPr>
                  <a:t>T</a:t>
                </a:r>
                <a:r>
                  <a:rPr lang="en-NL" sz="1400" dirty="0">
                    <a:latin typeface="Aptos" panose="020B0004020202020204" pitchFamily="34" charset="0"/>
                  </a:rPr>
                  <a:t>he Prize-Collecting Steiner Forest (PCSF) algorithm</a:t>
                </a:r>
                <a:r>
                  <a:rPr lang="hu-HU" sz="1400" dirty="0">
                    <a:latin typeface="Aptos" panose="020B0004020202020204" pitchFamily="34" charset="0"/>
                  </a:rPr>
                  <a:t>, </a:t>
                </a:r>
                <a:r>
                  <a:rPr lang="en-NL" sz="1400" dirty="0">
                    <a:latin typeface="Aptos" panose="020B0004020202020204" pitchFamily="34" charset="0"/>
                  </a:rPr>
                  <a:t>given the reference network and input nodes, constructs </a:t>
                </a:r>
                <a:r>
                  <a:rPr lang="hu-HU" sz="1400" dirty="0">
                    <a:latin typeface="Aptos" panose="020B0004020202020204" pitchFamily="34" charset="0"/>
                  </a:rPr>
                  <a:t>a </a:t>
                </a:r>
                <a:r>
                  <a:rPr lang="en-NL" sz="1400" dirty="0">
                    <a:latin typeface="Aptos" panose="020B0004020202020204" pitchFamily="34" charset="0"/>
                  </a:rPr>
                  <a:t>subnetwork</a:t>
                </a:r>
                <a:r>
                  <a:rPr lang="hu-HU" sz="1400" dirty="0">
                    <a:latin typeface="Aptos" panose="020B0004020202020204" pitchFamily="34" charset="0"/>
                  </a:rPr>
                  <a:t> through optimizing to:</a:t>
                </a:r>
              </a:p>
              <a:p>
                <a:pPr marL="285750" indent="-285750">
                  <a:buFont typeface="Arial" panose="020B0604020202020204" pitchFamily="34" charset="0"/>
                  <a:buChar char="•"/>
                </a:pPr>
                <a:r>
                  <a:rPr lang="hu-HU" sz="1400" dirty="0">
                    <a:latin typeface="Aptos" panose="020B0004020202020204" pitchFamily="34" charset="0"/>
                  </a:rPr>
                  <a:t>include more input nodes with high prize (</a:t>
                </a:r>
                <a:r>
                  <a:rPr lang="hu-HU" sz="1400" dirty="0">
                    <a:latin typeface="Aptos" panose="020B0004020202020204" pitchFamily="34" charset="0"/>
                    <a:sym typeface="Wingdings" panose="05000000000000000000" pitchFamily="2" charset="2"/>
                  </a:rPr>
                  <a:t>prize = </a:t>
                </a:r>
                <a:r>
                  <a:rPr lang="hu-HU" sz="1400" dirty="0">
                    <a:latin typeface="Aptos" panose="020B0004020202020204" pitchFamily="34" charset="0"/>
                  </a:rPr>
                  <a:t>absolute LFC)</a:t>
                </a:r>
              </a:p>
              <a:p>
                <a:pPr marL="285750" indent="-285750">
                  <a:buFont typeface="Arial" panose="020B0604020202020204" pitchFamily="34" charset="0"/>
                  <a:buChar char="•"/>
                </a:pPr>
                <a:r>
                  <a:rPr lang="hu-HU" sz="1400" dirty="0">
                    <a:latin typeface="Aptos" panose="020B0004020202020204" pitchFamily="34" charset="0"/>
                  </a:rPr>
                  <a:t>Decrease </a:t>
                </a:r>
                <a:r>
                  <a:rPr lang="en-NL" sz="1400" dirty="0">
                    <a:latin typeface="Aptos" panose="020B0004020202020204" pitchFamily="34" charset="0"/>
                  </a:rPr>
                  <a:t>edge costs</a:t>
                </a:r>
                <a:r>
                  <a:rPr lang="hu-HU" sz="1400" dirty="0">
                    <a:latin typeface="Aptos" panose="020B0004020202020204" pitchFamily="34" charset="0"/>
                  </a:rPr>
                  <a:t> (low cost  ~ high evidence)</a:t>
                </a:r>
                <a:r>
                  <a:rPr lang="en-NL" sz="1400" dirty="0">
                    <a:latin typeface="Aptos" panose="020B0004020202020204" pitchFamily="34" charset="0"/>
                  </a:rPr>
                  <a:t>. </a:t>
                </a:r>
                <a:endParaRPr lang="en-NL" dirty="0">
                  <a:effectLst/>
                  <a:latin typeface="SimSun" panose="02010600030101010101" pitchFamily="2" charset="-122"/>
                  <a:ea typeface="SimSun" panose="02010600030101010101" pitchFamily="2" charset="-122"/>
                  <a:cs typeface="Aptos" panose="020B0004020202020204" pitchFamily="34" charset="0"/>
                </a:endParaRPr>
              </a:p>
            </p:txBody>
          </p:sp>
          <p:grpSp>
            <p:nvGrpSpPr>
              <p:cNvPr id="2" name="Group 1">
                <a:extLst>
                  <a:ext uri="{FF2B5EF4-FFF2-40B4-BE49-F238E27FC236}">
                    <a16:creationId xmlns:a16="http://schemas.microsoft.com/office/drawing/2014/main" id="{E4EF2BBA-F2F2-3D03-5E18-13CE7BC904E7}"/>
                  </a:ext>
                </a:extLst>
              </p:cNvPr>
              <p:cNvGrpSpPr/>
              <p:nvPr/>
            </p:nvGrpSpPr>
            <p:grpSpPr>
              <a:xfrm>
                <a:off x="2762593" y="1050302"/>
                <a:ext cx="5372413" cy="3903823"/>
                <a:chOff x="2762593" y="1050302"/>
                <a:chExt cx="5372413" cy="3903823"/>
              </a:xfrm>
            </p:grpSpPr>
            <p:sp>
              <p:nvSpPr>
                <p:cNvPr id="10" name="Rectangle 9">
                  <a:extLst>
                    <a:ext uri="{FF2B5EF4-FFF2-40B4-BE49-F238E27FC236}">
                      <a16:creationId xmlns:a16="http://schemas.microsoft.com/office/drawing/2014/main" id="{91D4744B-F4A9-ACA6-70BD-4019963743EA}"/>
                    </a:ext>
                  </a:extLst>
                </p:cNvPr>
                <p:cNvSpPr/>
                <p:nvPr/>
              </p:nvSpPr>
              <p:spPr>
                <a:xfrm>
                  <a:off x="4112359" y="1050302"/>
                  <a:ext cx="2839717" cy="5619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u-HU" sz="1600" b="1" dirty="0">
                      <a:solidFill>
                        <a:schemeClr val="tx1"/>
                      </a:solidFill>
                      <a:latin typeface="Aptos" panose="020B0004020202020204" pitchFamily="34" charset="0"/>
                    </a:rPr>
                    <a:t>RESULT</a:t>
                  </a:r>
                  <a:r>
                    <a:rPr lang="hu-HU" sz="1600" dirty="0">
                      <a:solidFill>
                        <a:schemeClr val="tx1"/>
                      </a:solidFill>
                      <a:latin typeface="Aptos" panose="020B0004020202020204" pitchFamily="34" charset="0"/>
                    </a:rPr>
                    <a:t>: </a:t>
                  </a:r>
                </a:p>
                <a:p>
                  <a:pPr algn="ctr"/>
                  <a:r>
                    <a:rPr lang="en-GB" sz="1600" dirty="0">
                      <a:solidFill>
                        <a:schemeClr val="tx1"/>
                      </a:solidFill>
                      <a:latin typeface="Aptos" panose="020B0004020202020204" pitchFamily="34" charset="0"/>
                    </a:rPr>
                    <a:t> “</a:t>
                  </a:r>
                  <a:r>
                    <a:rPr lang="hu-HU" sz="1600" dirty="0">
                      <a:solidFill>
                        <a:schemeClr val="tx1"/>
                      </a:solidFill>
                      <a:latin typeface="Aptos" panose="020B0004020202020204" pitchFamily="34" charset="0"/>
                    </a:rPr>
                    <a:t>OPTIMAL” SUBNETWORK</a:t>
                  </a:r>
                  <a:endParaRPr lang="en-NL" sz="1600" dirty="0">
                    <a:solidFill>
                      <a:schemeClr val="tx1"/>
                    </a:solidFill>
                    <a:latin typeface="Aptos" panose="020B0004020202020204" pitchFamily="34" charset="0"/>
                  </a:endParaRPr>
                </a:p>
              </p:txBody>
            </p:sp>
            <p:cxnSp>
              <p:nvCxnSpPr>
                <p:cNvPr id="1071" name="Straight Arrow Connector 1070">
                  <a:extLst>
                    <a:ext uri="{FF2B5EF4-FFF2-40B4-BE49-F238E27FC236}">
                      <a16:creationId xmlns:a16="http://schemas.microsoft.com/office/drawing/2014/main" id="{A0467915-C20D-309A-C66E-A046A8039CF8}"/>
                    </a:ext>
                  </a:extLst>
                </p:cNvPr>
                <p:cNvCxnSpPr>
                  <a:cxnSpLocks/>
                </p:cNvCxnSpPr>
                <p:nvPr/>
              </p:nvCxnSpPr>
              <p:spPr>
                <a:xfrm>
                  <a:off x="2762593" y="3017437"/>
                  <a:ext cx="16272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4" name="Oval 1103">
                  <a:extLst>
                    <a:ext uri="{FF2B5EF4-FFF2-40B4-BE49-F238E27FC236}">
                      <a16:creationId xmlns:a16="http://schemas.microsoft.com/office/drawing/2014/main" id="{CCD92F33-3C9D-C983-F64A-5E5EEFD94EF7}"/>
                    </a:ext>
                  </a:extLst>
                </p:cNvPr>
                <p:cNvSpPr/>
                <p:nvPr/>
              </p:nvSpPr>
              <p:spPr>
                <a:xfrm>
                  <a:off x="4690966" y="2008704"/>
                  <a:ext cx="415844" cy="419223"/>
                </a:xfrm>
                <a:prstGeom prst="ellipse">
                  <a:avLst/>
                </a:prstGeom>
                <a:solidFill>
                  <a:schemeClr val="accent6">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1105" name="Oval 1104">
                  <a:extLst>
                    <a:ext uri="{FF2B5EF4-FFF2-40B4-BE49-F238E27FC236}">
                      <a16:creationId xmlns:a16="http://schemas.microsoft.com/office/drawing/2014/main" id="{C0D72D1C-8727-39ED-278E-F43E2B7FB1E1}"/>
                    </a:ext>
                  </a:extLst>
                </p:cNvPr>
                <p:cNvSpPr/>
                <p:nvPr/>
              </p:nvSpPr>
              <p:spPr>
                <a:xfrm>
                  <a:off x="5686800" y="2462493"/>
                  <a:ext cx="295275" cy="294572"/>
                </a:xfrm>
                <a:prstGeom prst="ellipse">
                  <a:avLst/>
                </a:prstGeom>
                <a:solidFill>
                  <a:schemeClr val="accent6">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06" name="Oval 1105">
                  <a:extLst>
                    <a:ext uri="{FF2B5EF4-FFF2-40B4-BE49-F238E27FC236}">
                      <a16:creationId xmlns:a16="http://schemas.microsoft.com/office/drawing/2014/main" id="{D219E12F-905B-B927-C26D-6938B7AD1140}"/>
                    </a:ext>
                  </a:extLst>
                </p:cNvPr>
                <p:cNvSpPr/>
                <p:nvPr/>
              </p:nvSpPr>
              <p:spPr>
                <a:xfrm>
                  <a:off x="5299121" y="1879328"/>
                  <a:ext cx="295275" cy="294572"/>
                </a:xfrm>
                <a:prstGeom prst="ellipse">
                  <a:avLst/>
                </a:prstGeom>
                <a:solidFill>
                  <a:schemeClr val="accent5">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u-HU" dirty="0">
                      <a:solidFill>
                        <a:schemeClr val="tx1"/>
                      </a:solidFill>
                      <a:latin typeface="Aptos" panose="020B0004020202020204" pitchFamily="34" charset="0"/>
                    </a:rPr>
                    <a:t>6</a:t>
                  </a:r>
                  <a:endParaRPr lang="en-NL" dirty="0">
                    <a:solidFill>
                      <a:schemeClr val="tx1"/>
                    </a:solidFill>
                    <a:latin typeface="Aptos" panose="020B0004020202020204" pitchFamily="34" charset="0"/>
                  </a:endParaRPr>
                </a:p>
              </p:txBody>
            </p:sp>
            <p:sp>
              <p:nvSpPr>
                <p:cNvPr id="1107" name="Oval 1106">
                  <a:extLst>
                    <a:ext uri="{FF2B5EF4-FFF2-40B4-BE49-F238E27FC236}">
                      <a16:creationId xmlns:a16="http://schemas.microsoft.com/office/drawing/2014/main" id="{10B9F938-5BE0-D0D1-E5D0-4E49B1D3FF4A}"/>
                    </a:ext>
                  </a:extLst>
                </p:cNvPr>
                <p:cNvSpPr/>
                <p:nvPr/>
              </p:nvSpPr>
              <p:spPr>
                <a:xfrm>
                  <a:off x="5594396" y="2973607"/>
                  <a:ext cx="267659" cy="272135"/>
                </a:xfrm>
                <a:prstGeom prst="ellipse">
                  <a:avLst/>
                </a:prstGeom>
                <a:solidFill>
                  <a:schemeClr val="accent6">
                    <a:lumMod val="60000"/>
                    <a:lumOff val="4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108" name="Straight Connector 1107">
                  <a:extLst>
                    <a:ext uri="{FF2B5EF4-FFF2-40B4-BE49-F238E27FC236}">
                      <a16:creationId xmlns:a16="http://schemas.microsoft.com/office/drawing/2014/main" id="{7464F1EC-FFBD-F3E6-02F0-F1AA5B86650F}"/>
                    </a:ext>
                  </a:extLst>
                </p:cNvPr>
                <p:cNvCxnSpPr>
                  <a:cxnSpLocks/>
                  <a:stCxn id="1105" idx="4"/>
                  <a:endCxn id="1107" idx="0"/>
                </p:cNvCxnSpPr>
                <p:nvPr/>
              </p:nvCxnSpPr>
              <p:spPr>
                <a:xfrm flipH="1">
                  <a:off x="5728226" y="2757065"/>
                  <a:ext cx="106212" cy="216542"/>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10" name="Straight Connector 1109">
                  <a:extLst>
                    <a:ext uri="{FF2B5EF4-FFF2-40B4-BE49-F238E27FC236}">
                      <a16:creationId xmlns:a16="http://schemas.microsoft.com/office/drawing/2014/main" id="{6113DE76-5EF9-F864-0155-30947B78F849}"/>
                    </a:ext>
                  </a:extLst>
                </p:cNvPr>
                <p:cNvCxnSpPr>
                  <a:cxnSpLocks/>
                  <a:stCxn id="1104" idx="7"/>
                  <a:endCxn id="1106" idx="2"/>
                </p:cNvCxnSpPr>
                <p:nvPr/>
              </p:nvCxnSpPr>
              <p:spPr>
                <a:xfrm flipV="1">
                  <a:off x="5045911" y="2026614"/>
                  <a:ext cx="253210" cy="43484"/>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11" name="Straight Connector 1110">
                  <a:extLst>
                    <a:ext uri="{FF2B5EF4-FFF2-40B4-BE49-F238E27FC236}">
                      <a16:creationId xmlns:a16="http://schemas.microsoft.com/office/drawing/2014/main" id="{46190BE0-3889-795A-97E9-923A8D14B9CC}"/>
                    </a:ext>
                  </a:extLst>
                </p:cNvPr>
                <p:cNvCxnSpPr>
                  <a:cxnSpLocks/>
                  <a:stCxn id="1105" idx="0"/>
                  <a:endCxn id="1106" idx="5"/>
                </p:cNvCxnSpPr>
                <p:nvPr/>
              </p:nvCxnSpPr>
              <p:spPr>
                <a:xfrm flipH="1" flipV="1">
                  <a:off x="5551154" y="2130761"/>
                  <a:ext cx="283284" cy="331732"/>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F7DDF7D7-AE7F-783D-C2A5-2B55019B8223}"/>
                    </a:ext>
                  </a:extLst>
                </p:cNvPr>
                <p:cNvSpPr/>
                <p:nvPr/>
              </p:nvSpPr>
              <p:spPr>
                <a:xfrm>
                  <a:off x="2994803" y="3117271"/>
                  <a:ext cx="1221705" cy="4305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u-HU" sz="1600" i="1" dirty="0">
                      <a:solidFill>
                        <a:schemeClr val="tx1"/>
                      </a:solidFill>
                      <a:latin typeface="Aptos" panose="020B0004020202020204" pitchFamily="34" charset="0"/>
                    </a:rPr>
                    <a:t>PCSF</a:t>
                  </a:r>
                </a:p>
                <a:p>
                  <a:pPr algn="ctr"/>
                  <a:r>
                    <a:rPr lang="hu-HU" sz="1600" i="1" dirty="0">
                      <a:solidFill>
                        <a:schemeClr val="tx1"/>
                      </a:solidFill>
                      <a:latin typeface="Aptos" panose="020B0004020202020204" pitchFamily="34" charset="0"/>
                    </a:rPr>
                    <a:t>algorithm</a:t>
                  </a:r>
                  <a:endParaRPr lang="en-NL" sz="1600" i="1" dirty="0">
                    <a:solidFill>
                      <a:schemeClr val="tx1"/>
                    </a:solidFill>
                    <a:latin typeface="Aptos" panose="020B0004020202020204" pitchFamily="34" charset="0"/>
                  </a:endParaRPr>
                </a:p>
              </p:txBody>
            </p:sp>
            <p:sp>
              <p:nvSpPr>
                <p:cNvPr id="4" name="TextBox 3">
                  <a:extLst>
                    <a:ext uri="{FF2B5EF4-FFF2-40B4-BE49-F238E27FC236}">
                      <a16:creationId xmlns:a16="http://schemas.microsoft.com/office/drawing/2014/main" id="{4A08EAA2-FC7E-DECE-DAEC-C087AE4B297B}"/>
                    </a:ext>
                  </a:extLst>
                </p:cNvPr>
                <p:cNvSpPr txBox="1"/>
                <p:nvPr/>
              </p:nvSpPr>
              <p:spPr>
                <a:xfrm>
                  <a:off x="3859147" y="4123128"/>
                  <a:ext cx="4275859" cy="830997"/>
                </a:xfrm>
                <a:prstGeom prst="rect">
                  <a:avLst/>
                </a:prstGeom>
                <a:noFill/>
              </p:spPr>
              <p:txBody>
                <a:bodyPr wrap="square">
                  <a:spAutoFit/>
                </a:bodyPr>
                <a:lstStyle/>
                <a:p>
                  <a:pPr marL="285750" indent="-285750">
                    <a:buFont typeface="Arial" panose="020B0604020202020204" pitchFamily="34" charset="0"/>
                    <a:buChar char="•"/>
                  </a:pPr>
                  <a:r>
                    <a:rPr lang="hu-HU" sz="1600" b="1" dirty="0">
                      <a:latin typeface="Aptos" panose="020B0004020202020204" pitchFamily="34" charset="0"/>
                    </a:rPr>
                    <a:t>Key </a:t>
                  </a:r>
                  <a:r>
                    <a:rPr lang="en-NL" sz="1600" b="1" dirty="0">
                      <a:latin typeface="Aptos" panose="020B0004020202020204" pitchFamily="34" charset="0"/>
                    </a:rPr>
                    <a:t>kinases </a:t>
                  </a:r>
                  <a:r>
                    <a:rPr lang="hu-HU" sz="1600" b="1" dirty="0">
                      <a:latin typeface="Aptos" panose="020B0004020202020204" pitchFamily="34" charset="0"/>
                    </a:rPr>
                    <a:t>&amp; </a:t>
                  </a:r>
                  <a:r>
                    <a:rPr lang="en-NL" sz="1600" b="1" dirty="0">
                      <a:latin typeface="Aptos" panose="020B0004020202020204" pitchFamily="34" charset="0"/>
                    </a:rPr>
                    <a:t>high-confidence links </a:t>
                  </a:r>
                  <a:endParaRPr lang="hu-HU" sz="1600" b="1" dirty="0">
                    <a:latin typeface="Aptos" panose="020B0004020202020204" pitchFamily="34" charset="0"/>
                  </a:endParaRPr>
                </a:p>
                <a:p>
                  <a:pPr marL="285750" indent="-285750">
                    <a:buFont typeface="Arial" panose="020B0604020202020204" pitchFamily="34" charset="0"/>
                    <a:buChar char="•"/>
                  </a:pPr>
                  <a:r>
                    <a:rPr lang="hu-HU" sz="1600" dirty="0">
                      <a:latin typeface="Aptos" panose="020B0004020202020204" pitchFamily="34" charset="0"/>
                    </a:rPr>
                    <a:t>Less FP (false positive – weakly connected)</a:t>
                  </a:r>
                </a:p>
                <a:p>
                  <a:pPr marL="285750" indent="-285750">
                    <a:buFont typeface="Arial" panose="020B0604020202020204" pitchFamily="34" charset="0"/>
                    <a:buChar char="•"/>
                  </a:pPr>
                  <a:r>
                    <a:rPr lang="hu-HU" sz="1600" dirty="0">
                      <a:latin typeface="Aptos" panose="020B0004020202020204" pitchFamily="34" charset="0"/>
                    </a:rPr>
                    <a:t>Less FN (false negative, hidden nodes)</a:t>
                  </a:r>
                  <a:endParaRPr lang="en-NL" sz="1600" dirty="0"/>
                </a:p>
              </p:txBody>
            </p:sp>
          </p:grpSp>
          <p:sp>
            <p:nvSpPr>
              <p:cNvPr id="6" name="TextBox 5">
                <a:extLst>
                  <a:ext uri="{FF2B5EF4-FFF2-40B4-BE49-F238E27FC236}">
                    <a16:creationId xmlns:a16="http://schemas.microsoft.com/office/drawing/2014/main" id="{7AFD3025-EAC4-3D4B-ACDF-9A30B2F91F28}"/>
                  </a:ext>
                </a:extLst>
              </p:cNvPr>
              <p:cNvSpPr txBox="1"/>
              <p:nvPr/>
            </p:nvSpPr>
            <p:spPr>
              <a:xfrm>
                <a:off x="8628328" y="2177255"/>
                <a:ext cx="3328212" cy="2977738"/>
              </a:xfrm>
              <a:prstGeom prst="rect">
                <a:avLst/>
              </a:prstGeom>
              <a:noFill/>
            </p:spPr>
            <p:txBody>
              <a:bodyPr wrap="square">
                <a:spAutoFit/>
              </a:bodyPr>
              <a:lstStyle/>
              <a:p>
                <a:pPr>
                  <a:spcAft>
                    <a:spcPts val="300"/>
                  </a:spcAft>
                </a:pPr>
                <a:r>
                  <a:rPr lang="hu-HU" b="1" dirty="0">
                    <a:solidFill>
                      <a:srgbClr val="00B050"/>
                    </a:solidFill>
                    <a:latin typeface="Aptos" panose="020B0004020202020204" pitchFamily="34" charset="0"/>
                  </a:rPr>
                  <a:t>Generating networks enhances robustness of UKA results:</a:t>
                </a:r>
              </a:p>
              <a:p>
                <a:pPr marL="285750" indent="-285750">
                  <a:spcAft>
                    <a:spcPts val="300"/>
                  </a:spcAft>
                  <a:buFont typeface="Arial" panose="020B0604020202020204" pitchFamily="34" charset="0"/>
                  <a:buChar char="•"/>
                </a:pPr>
                <a:r>
                  <a:rPr lang="en-NL" dirty="0">
                    <a:latin typeface="Aptos" panose="020B0004020202020204" pitchFamily="34" charset="0"/>
                  </a:rPr>
                  <a:t>pruning weakly connected or low-fold-change nodes (probably </a:t>
                </a:r>
                <a:r>
                  <a:rPr lang="hu-HU" dirty="0">
                    <a:latin typeface="Aptos" panose="020B0004020202020204" pitchFamily="34" charset="0"/>
                  </a:rPr>
                  <a:t>FP</a:t>
                </a:r>
                <a:r>
                  <a:rPr lang="en-NL" dirty="0">
                    <a:latin typeface="Aptos" panose="020B0004020202020204" pitchFamily="34" charset="0"/>
                  </a:rPr>
                  <a:t>) </a:t>
                </a:r>
                <a:endParaRPr lang="hu-HU" dirty="0">
                  <a:latin typeface="Aptos" panose="020B0004020202020204" pitchFamily="34" charset="0"/>
                </a:endParaRPr>
              </a:p>
              <a:p>
                <a:pPr marL="285750" indent="-285750">
                  <a:spcAft>
                    <a:spcPts val="300"/>
                  </a:spcAft>
                  <a:buFont typeface="Arial" panose="020B0604020202020204" pitchFamily="34" charset="0"/>
                  <a:buChar char="•"/>
                </a:pPr>
                <a:r>
                  <a:rPr lang="en-NL" dirty="0">
                    <a:latin typeface="Aptos" panose="020B0004020202020204" pitchFamily="34" charset="0"/>
                  </a:rPr>
                  <a:t>and recovering missing connections through hidden nodes (probably </a:t>
                </a:r>
                <a:r>
                  <a:rPr lang="hu-HU" dirty="0">
                    <a:latin typeface="Aptos" panose="020B0004020202020204" pitchFamily="34" charset="0"/>
                  </a:rPr>
                  <a:t>FN</a:t>
                </a:r>
                <a:r>
                  <a:rPr lang="en-NL" dirty="0">
                    <a:latin typeface="Aptos" panose="020B0004020202020204" pitchFamily="34" charset="0"/>
                  </a:rPr>
                  <a:t>).</a:t>
                </a:r>
              </a:p>
              <a:p>
                <a:pPr marL="285750" indent="-285750">
                  <a:spcAft>
                    <a:spcPts val="300"/>
                  </a:spcAft>
                  <a:buFont typeface="Arial" panose="020B0604020202020204" pitchFamily="34" charset="0"/>
                  <a:buChar char="•"/>
                </a:pPr>
                <a:endParaRPr lang="hu-HU" dirty="0">
                  <a:solidFill>
                    <a:srgbClr val="00B050"/>
                  </a:solidFill>
                  <a:latin typeface="Aptos" panose="020B0004020202020204" pitchFamily="34" charset="0"/>
                </a:endParaRPr>
              </a:p>
            </p:txBody>
          </p:sp>
          <p:cxnSp>
            <p:nvCxnSpPr>
              <p:cNvPr id="7" name="Straight Arrow Connector 6">
                <a:extLst>
                  <a:ext uri="{FF2B5EF4-FFF2-40B4-BE49-F238E27FC236}">
                    <a16:creationId xmlns:a16="http://schemas.microsoft.com/office/drawing/2014/main" id="{01C8A641-65E3-8B59-7E46-3EAD8D6940A8}"/>
                  </a:ext>
                </a:extLst>
              </p:cNvPr>
              <p:cNvCxnSpPr>
                <a:cxnSpLocks/>
              </p:cNvCxnSpPr>
              <p:nvPr/>
            </p:nvCxnSpPr>
            <p:spPr>
              <a:xfrm>
                <a:off x="7426789" y="3065621"/>
                <a:ext cx="90467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2" name="TextBox 11">
              <a:extLst>
                <a:ext uri="{FF2B5EF4-FFF2-40B4-BE49-F238E27FC236}">
                  <a16:creationId xmlns:a16="http://schemas.microsoft.com/office/drawing/2014/main" id="{92EC3B86-7E9A-B57D-DEAF-BDFD1E02E723}"/>
                </a:ext>
              </a:extLst>
            </p:cNvPr>
            <p:cNvSpPr txBox="1"/>
            <p:nvPr/>
          </p:nvSpPr>
          <p:spPr>
            <a:xfrm>
              <a:off x="4258569" y="5151101"/>
              <a:ext cx="1522763" cy="346344"/>
            </a:xfrm>
            <a:prstGeom prst="rect">
              <a:avLst/>
            </a:prstGeom>
            <a:noFill/>
          </p:spPr>
          <p:txBody>
            <a:bodyPr wrap="square">
              <a:spAutoFit/>
            </a:bodyPr>
            <a:lstStyle/>
            <a:p>
              <a:pPr>
                <a:spcAft>
                  <a:spcPts val="600"/>
                </a:spcAft>
              </a:pPr>
              <a:r>
                <a:rPr lang="hu-HU" sz="1600" dirty="0">
                  <a:solidFill>
                    <a:schemeClr val="tx1"/>
                  </a:solidFill>
                  <a:latin typeface="Aptos" panose="020B0004020202020204" pitchFamily="34" charset="0"/>
                </a:rPr>
                <a:t>Hidden nodes</a:t>
              </a:r>
              <a:endParaRPr lang="en-NL" sz="1600" dirty="0">
                <a:solidFill>
                  <a:schemeClr val="tx1"/>
                </a:solidFill>
                <a:latin typeface="Aptos" panose="020B0004020202020204" pitchFamily="34" charset="0"/>
              </a:endParaRPr>
            </a:p>
          </p:txBody>
        </p:sp>
      </p:grpSp>
      <p:sp>
        <p:nvSpPr>
          <p:cNvPr id="17" name="Oval 16">
            <a:extLst>
              <a:ext uri="{FF2B5EF4-FFF2-40B4-BE49-F238E27FC236}">
                <a16:creationId xmlns:a16="http://schemas.microsoft.com/office/drawing/2014/main" id="{B5765BB4-DD5B-9E26-8857-9D2BE1A28C15}"/>
              </a:ext>
            </a:extLst>
          </p:cNvPr>
          <p:cNvSpPr/>
          <p:nvPr/>
        </p:nvSpPr>
        <p:spPr>
          <a:xfrm>
            <a:off x="2292362" y="1744805"/>
            <a:ext cx="295275" cy="294572"/>
          </a:xfrm>
          <a:prstGeom prst="ellipse">
            <a:avLst/>
          </a:prstGeom>
          <a:solidFill>
            <a:schemeClr val="bg1">
              <a:lumMod val="75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u-HU" dirty="0">
                <a:solidFill>
                  <a:schemeClr val="tx1"/>
                </a:solidFill>
                <a:latin typeface="Aptos" panose="020B0004020202020204" pitchFamily="34" charset="0"/>
              </a:rPr>
              <a:t>7</a:t>
            </a:r>
            <a:endParaRPr lang="en-NL" dirty="0">
              <a:solidFill>
                <a:schemeClr val="tx1"/>
              </a:solidFill>
              <a:latin typeface="Aptos" panose="020B0004020202020204" pitchFamily="34" charset="0"/>
            </a:endParaRPr>
          </a:p>
        </p:txBody>
      </p:sp>
      <p:cxnSp>
        <p:nvCxnSpPr>
          <p:cNvPr id="24" name="Straight Connector 23">
            <a:extLst>
              <a:ext uri="{FF2B5EF4-FFF2-40B4-BE49-F238E27FC236}">
                <a16:creationId xmlns:a16="http://schemas.microsoft.com/office/drawing/2014/main" id="{99C15493-2B0F-AEFB-A34B-BD931C99319F}"/>
              </a:ext>
            </a:extLst>
          </p:cNvPr>
          <p:cNvCxnSpPr>
            <a:cxnSpLocks/>
            <a:stCxn id="76" idx="0"/>
            <a:endCxn id="17" idx="4"/>
          </p:cNvCxnSpPr>
          <p:nvPr/>
        </p:nvCxnSpPr>
        <p:spPr>
          <a:xfrm flipV="1">
            <a:off x="2398575" y="2039377"/>
            <a:ext cx="41425" cy="51513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2523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F9F152-4629-26B1-870E-52FCCFA453F1}"/>
              </a:ext>
            </a:extLst>
          </p:cNvPr>
          <p:cNvSpPr>
            <a:spLocks noGrp="1"/>
          </p:cNvSpPr>
          <p:nvPr>
            <p:ph sz="quarter" idx="11"/>
          </p:nvPr>
        </p:nvSpPr>
        <p:spPr/>
        <p:txBody>
          <a:bodyPr/>
          <a:lstStyle/>
          <a:p>
            <a:endParaRPr lang="en-NL"/>
          </a:p>
        </p:txBody>
      </p:sp>
      <p:sp>
        <p:nvSpPr>
          <p:cNvPr id="3" name="Content Placeholder 2">
            <a:extLst>
              <a:ext uri="{FF2B5EF4-FFF2-40B4-BE49-F238E27FC236}">
                <a16:creationId xmlns:a16="http://schemas.microsoft.com/office/drawing/2014/main" id="{89F03A19-5C94-0D93-B938-B26ADA5A464C}"/>
              </a:ext>
            </a:extLst>
          </p:cNvPr>
          <p:cNvSpPr>
            <a:spLocks noGrp="1"/>
          </p:cNvSpPr>
          <p:nvPr>
            <p:ph sz="quarter" idx="12"/>
          </p:nvPr>
        </p:nvSpPr>
        <p:spPr>
          <a:xfrm>
            <a:off x="524124" y="-26140"/>
            <a:ext cx="8571238" cy="636442"/>
          </a:xfrm>
        </p:spPr>
        <p:txBody>
          <a:bodyPr/>
          <a:lstStyle/>
          <a:p>
            <a:r>
              <a:rPr lang="hu-HU" sz="4000" dirty="0">
                <a:latin typeface="Calibri Light" panose="020F0302020204030204" pitchFamily="34" charset="0"/>
                <a:ea typeface="Calibri Light" panose="020F0302020204030204" pitchFamily="34" charset="0"/>
                <a:cs typeface="Calibri Light" panose="020F0302020204030204" pitchFamily="34" charset="0"/>
              </a:rPr>
              <a:t>How to select most relevant pathways?</a:t>
            </a:r>
            <a:endParaRPr lang="en-NL" sz="40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TextBox 4">
            <a:extLst>
              <a:ext uri="{FF2B5EF4-FFF2-40B4-BE49-F238E27FC236}">
                <a16:creationId xmlns:a16="http://schemas.microsoft.com/office/drawing/2014/main" id="{2495E1FE-F841-931B-D115-AC9141488AB9}"/>
              </a:ext>
            </a:extLst>
          </p:cNvPr>
          <p:cNvSpPr txBox="1"/>
          <p:nvPr/>
        </p:nvSpPr>
        <p:spPr>
          <a:xfrm>
            <a:off x="301855" y="1026123"/>
            <a:ext cx="5447304" cy="3754874"/>
          </a:xfrm>
          <a:prstGeom prst="rect">
            <a:avLst/>
          </a:prstGeom>
          <a:noFill/>
        </p:spPr>
        <p:txBody>
          <a:bodyPr wrap="square">
            <a:spAutoFit/>
          </a:bodyPr>
          <a:lstStyle/>
          <a:p>
            <a:r>
              <a:rPr lang="hu-HU" sz="1700" b="1" dirty="0">
                <a:effectLst/>
                <a:latin typeface="Aptos" panose="020B0004020202020204" pitchFamily="34" charset="0"/>
                <a:ea typeface="Aptos" panose="020B0004020202020204" pitchFamily="34" charset="0"/>
                <a:cs typeface="Times New Roman" panose="02020603050405020304" pitchFamily="18" charset="0"/>
              </a:rPr>
              <a:t>Use the Pathways_&lt;T vs C&gt;</a:t>
            </a:r>
            <a:r>
              <a:rPr lang="hu-HU" sz="1700" b="1" dirty="0">
                <a:latin typeface="Aptos" panose="020B0004020202020204" pitchFamily="34" charset="0"/>
                <a:ea typeface="Aptos" panose="020B0004020202020204" pitchFamily="34" charset="0"/>
                <a:cs typeface="Times New Roman" panose="02020603050405020304" pitchFamily="18" charset="0"/>
              </a:rPr>
              <a:t>.csv:</a:t>
            </a:r>
          </a:p>
          <a:p>
            <a:pPr marL="285750" indent="-285750">
              <a:buFont typeface="Arial" panose="020B0604020202020204" pitchFamily="34" charset="0"/>
              <a:buChar char="•"/>
            </a:pPr>
            <a:r>
              <a:rPr lang="hu-HU" sz="1700" dirty="0">
                <a:latin typeface="Aptos" panose="020B0004020202020204" pitchFamily="34" charset="0"/>
                <a:cs typeface="Times New Roman" panose="02020603050405020304" pitchFamily="18" charset="0"/>
              </a:rPr>
              <a:t>Every pathway belongs to a Reactome pathway group (e.g. AKT signaling is under Signal Transduction). </a:t>
            </a:r>
          </a:p>
          <a:p>
            <a:pPr marL="285750" indent="-285750">
              <a:buFont typeface="Arial" panose="020B0604020202020204" pitchFamily="34" charset="0"/>
              <a:buChar char="•"/>
            </a:pPr>
            <a:r>
              <a:rPr lang="hu-HU" sz="1700" dirty="0">
                <a:latin typeface="Aptos" panose="020B0004020202020204" pitchFamily="34" charset="0"/>
                <a:cs typeface="Times New Roman" panose="02020603050405020304" pitchFamily="18" charset="0"/>
              </a:rPr>
              <a:t>These columns can help to identify relevant pathways:</a:t>
            </a:r>
          </a:p>
          <a:p>
            <a:pPr marL="742950" lvl="1" indent="-285750">
              <a:buFont typeface="Arial" panose="020B0604020202020204" pitchFamily="34" charset="0"/>
              <a:buChar char="•"/>
            </a:pPr>
            <a:r>
              <a:rPr lang="hu-HU" sz="1700" i="1" dirty="0">
                <a:latin typeface="Aptos" panose="020B0004020202020204" pitchFamily="34" charset="0"/>
                <a:cs typeface="Times New Roman" panose="02020603050405020304" pitchFamily="18" charset="0"/>
              </a:rPr>
              <a:t>N_hits, pathway_size, overlap columns</a:t>
            </a:r>
            <a:r>
              <a:rPr lang="hu-HU" sz="1700" dirty="0">
                <a:latin typeface="Aptos" panose="020B0004020202020204" pitchFamily="34" charset="0"/>
                <a:cs typeface="Times New Roman" panose="02020603050405020304" pitchFamily="18" charset="0"/>
              </a:rPr>
              <a:t> show how many pathway members are in the data. (e.g. n_hits = 3, pathway_size = 10 means 3 kinases from the results are found in a pathway of 10 members). </a:t>
            </a:r>
          </a:p>
          <a:p>
            <a:pPr marL="742950" lvl="1" indent="-285750">
              <a:buFont typeface="Arial" panose="020B0604020202020204" pitchFamily="34" charset="0"/>
              <a:buChar char="•"/>
            </a:pPr>
            <a:r>
              <a:rPr lang="hu-HU" sz="1700" i="1" dirty="0">
                <a:latin typeface="Aptos" panose="020B0004020202020204" pitchFamily="34" charset="0"/>
                <a:cs typeface="Times New Roman" panose="02020603050405020304" pitchFamily="18" charset="0"/>
              </a:rPr>
              <a:t>Hierarchy_n column</a:t>
            </a:r>
            <a:r>
              <a:rPr lang="hu-HU" sz="1700" dirty="0">
                <a:latin typeface="Aptos" panose="020B0004020202020204" pitchFamily="34" charset="0"/>
                <a:cs typeface="Times New Roman" panose="02020603050405020304" pitchFamily="18" charset="0"/>
              </a:rPr>
              <a:t>: shows the hierarchy level (e.g. Signal Transduction is level 1). Top levels are generic, bottom levels are specific. Middle levels might be the most interesting.</a:t>
            </a:r>
          </a:p>
        </p:txBody>
      </p:sp>
      <p:pic>
        <p:nvPicPr>
          <p:cNvPr id="6" name="Picture 5">
            <a:extLst>
              <a:ext uri="{FF2B5EF4-FFF2-40B4-BE49-F238E27FC236}">
                <a16:creationId xmlns:a16="http://schemas.microsoft.com/office/drawing/2014/main" id="{1B4E96B2-DCF2-FC71-1C70-7E96F91A8B59}"/>
              </a:ext>
            </a:extLst>
          </p:cNvPr>
          <p:cNvPicPr>
            <a:picLocks noChangeAspect="1"/>
          </p:cNvPicPr>
          <p:nvPr/>
        </p:nvPicPr>
        <p:blipFill>
          <a:blip r:embed="rId2"/>
          <a:stretch>
            <a:fillRect/>
          </a:stretch>
        </p:blipFill>
        <p:spPr>
          <a:xfrm>
            <a:off x="6096000" y="1308507"/>
            <a:ext cx="5629083" cy="3255777"/>
          </a:xfrm>
          <a:prstGeom prst="rect">
            <a:avLst/>
          </a:prstGeom>
          <a:ln>
            <a:solidFill>
              <a:schemeClr val="tx1"/>
            </a:solidFill>
          </a:ln>
        </p:spPr>
      </p:pic>
      <p:sp>
        <p:nvSpPr>
          <p:cNvPr id="4" name="TextBox 3">
            <a:extLst>
              <a:ext uri="{FF2B5EF4-FFF2-40B4-BE49-F238E27FC236}">
                <a16:creationId xmlns:a16="http://schemas.microsoft.com/office/drawing/2014/main" id="{3AFD4385-3B52-8D6B-F323-A4BD8416C6B7}"/>
              </a:ext>
            </a:extLst>
          </p:cNvPr>
          <p:cNvSpPr txBox="1"/>
          <p:nvPr/>
        </p:nvSpPr>
        <p:spPr>
          <a:xfrm>
            <a:off x="301855" y="5103302"/>
            <a:ext cx="11353917" cy="1138773"/>
          </a:xfrm>
          <a:prstGeom prst="rect">
            <a:avLst/>
          </a:prstGeom>
          <a:noFill/>
        </p:spPr>
        <p:txBody>
          <a:bodyPr wrap="square">
            <a:spAutoFit/>
          </a:bodyPr>
          <a:lstStyle/>
          <a:p>
            <a:r>
              <a:rPr lang="en-GB" sz="1700" dirty="0">
                <a:latin typeface="Aptos" panose="020B0004020202020204" pitchFamily="34" charset="0"/>
                <a:cs typeface="Times New Roman" panose="02020603050405020304" pitchFamily="18" charset="0"/>
              </a:rPr>
              <a:t>The </a:t>
            </a:r>
            <a:r>
              <a:rPr lang="en-GB" sz="1700" b="1" dirty="0">
                <a:latin typeface="Aptos" panose="020B0004020202020204" pitchFamily="34" charset="0"/>
                <a:cs typeface="Times New Roman" panose="02020603050405020304" pitchFamily="18" charset="0"/>
              </a:rPr>
              <a:t>Pathways_&lt;T vs C&gt;.csv </a:t>
            </a:r>
            <a:r>
              <a:rPr lang="en-GB" sz="1700" dirty="0">
                <a:latin typeface="Aptos" panose="020B0004020202020204" pitchFamily="34" charset="0"/>
                <a:cs typeface="Times New Roman" panose="02020603050405020304" pitchFamily="18" charset="0"/>
              </a:rPr>
              <a:t>file lists the selected pathway</a:t>
            </a:r>
            <a:r>
              <a:rPr lang="hu-HU" sz="1700" dirty="0">
                <a:latin typeface="Aptos" panose="020B0004020202020204" pitchFamily="34" charset="0"/>
                <a:cs typeface="Times New Roman" panose="02020603050405020304" pitchFamily="18" charset="0"/>
              </a:rPr>
              <a:t>s</a:t>
            </a:r>
            <a:r>
              <a:rPr lang="en-GB" sz="1700" dirty="0">
                <a:latin typeface="Aptos" panose="020B0004020202020204" pitchFamily="34" charset="0"/>
                <a:cs typeface="Times New Roman" panose="02020603050405020304" pitchFamily="18" charset="0"/>
              </a:rPr>
              <a:t> for each gene cluster (column Genes). However, additional pathways may also be annotated to the same gene cluster. In this file, the pathway chosen is the highest in the hierarchy (i.e., the most general). </a:t>
            </a:r>
            <a:r>
              <a:rPr lang="hu-HU" sz="1700" dirty="0">
                <a:latin typeface="Aptos" panose="020B0004020202020204" pitchFamily="34" charset="0"/>
                <a:cs typeface="Times New Roman" panose="02020603050405020304" pitchFamily="18" charset="0"/>
              </a:rPr>
              <a:t>If a pathway is irrelevant, use </a:t>
            </a:r>
            <a:r>
              <a:rPr lang="en-GB" sz="1700" b="1" dirty="0">
                <a:latin typeface="Aptos" panose="020B0004020202020204" pitchFamily="34" charset="0"/>
                <a:cs typeface="Times New Roman" panose="02020603050405020304" pitchFamily="18" charset="0"/>
              </a:rPr>
              <a:t>Pathways_&lt;T vs C&gt;_all.csv</a:t>
            </a:r>
            <a:r>
              <a:rPr lang="hu-HU" sz="1700" b="1" dirty="0">
                <a:latin typeface="Aptos" panose="020B0004020202020204" pitchFamily="34" charset="0"/>
                <a:cs typeface="Times New Roman" panose="02020603050405020304" pitchFamily="18" charset="0"/>
              </a:rPr>
              <a:t> </a:t>
            </a:r>
            <a:r>
              <a:rPr lang="hu-HU" sz="1700" dirty="0">
                <a:latin typeface="Aptos" panose="020B0004020202020204" pitchFamily="34" charset="0"/>
                <a:cs typeface="Times New Roman" panose="02020603050405020304" pitchFamily="18" charset="0"/>
              </a:rPr>
              <a:t>to check whether there is another, more </a:t>
            </a:r>
            <a:r>
              <a:rPr lang="en-GB" sz="1700" dirty="0">
                <a:latin typeface="Aptos" panose="020B0004020202020204" pitchFamily="34" charset="0"/>
                <a:cs typeface="Times New Roman" panose="02020603050405020304" pitchFamily="18" charset="0"/>
              </a:rPr>
              <a:t>relevant pathway</a:t>
            </a:r>
            <a:r>
              <a:rPr lang="hu-HU" sz="1700" dirty="0">
                <a:latin typeface="Aptos" panose="020B0004020202020204" pitchFamily="34" charset="0"/>
                <a:cs typeface="Times New Roman" panose="02020603050405020304" pitchFamily="18" charset="0"/>
              </a:rPr>
              <a:t> </a:t>
            </a:r>
            <a:r>
              <a:rPr lang="en-GB" sz="1700" dirty="0">
                <a:latin typeface="Aptos" panose="020B0004020202020204" pitchFamily="34" charset="0"/>
                <a:cs typeface="Times New Roman" panose="02020603050405020304" pitchFamily="18" charset="0"/>
              </a:rPr>
              <a:t>for the same gene cluster.</a:t>
            </a:r>
            <a:endParaRPr lang="hu-HU" sz="1700" dirty="0">
              <a:latin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146943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7C77CF-B501-EFED-BF6F-471A28E1300E}"/>
              </a:ext>
            </a:extLst>
          </p:cNvPr>
          <p:cNvSpPr>
            <a:spLocks noGrp="1"/>
          </p:cNvSpPr>
          <p:nvPr>
            <p:ph sz="quarter" idx="11"/>
          </p:nvPr>
        </p:nvSpPr>
        <p:spPr/>
        <p:txBody>
          <a:bodyPr/>
          <a:lstStyle/>
          <a:p>
            <a:endParaRPr lang="en-NL"/>
          </a:p>
        </p:txBody>
      </p:sp>
      <p:sp>
        <p:nvSpPr>
          <p:cNvPr id="7" name="TextBox 6">
            <a:extLst>
              <a:ext uri="{FF2B5EF4-FFF2-40B4-BE49-F238E27FC236}">
                <a16:creationId xmlns:a16="http://schemas.microsoft.com/office/drawing/2014/main" id="{6CB20D9A-F059-705F-2EF6-761BDFADC260}"/>
              </a:ext>
            </a:extLst>
          </p:cNvPr>
          <p:cNvSpPr txBox="1"/>
          <p:nvPr/>
        </p:nvSpPr>
        <p:spPr>
          <a:xfrm>
            <a:off x="375628" y="1864288"/>
            <a:ext cx="11185751" cy="2308324"/>
          </a:xfrm>
          <a:prstGeom prst="rect">
            <a:avLst/>
          </a:prstGeom>
          <a:noFill/>
          <a:ln>
            <a:solidFill>
              <a:schemeClr val="tx1"/>
            </a:solidFill>
          </a:ln>
        </p:spPr>
        <p:txBody>
          <a:bodyPr wrap="square">
            <a:spAutoFit/>
          </a:bodyPr>
          <a:lstStyle/>
          <a:p>
            <a:r>
              <a:rPr lang="hu-HU" b="1" dirty="0">
                <a:solidFill>
                  <a:srgbClr val="048210"/>
                </a:solidFill>
                <a:latin typeface="Aptos" panose="020B0004020202020204" pitchFamily="34" charset="0"/>
              </a:rPr>
              <a:t>Which are the most relevant pathways?</a:t>
            </a:r>
          </a:p>
          <a:p>
            <a:r>
              <a:rPr lang="en-GB" dirty="0">
                <a:solidFill>
                  <a:srgbClr val="048210"/>
                </a:solidFill>
                <a:latin typeface="Aptos" panose="020B0004020202020204" pitchFamily="34" charset="0"/>
              </a:rPr>
              <a:t>There is no simple metric. Pathways </a:t>
            </a:r>
            <a:r>
              <a:rPr lang="hu-HU" dirty="0">
                <a:solidFill>
                  <a:srgbClr val="048210"/>
                </a:solidFill>
                <a:latin typeface="Aptos" panose="020B0004020202020204" pitchFamily="34" charset="0"/>
              </a:rPr>
              <a:t>usually </a:t>
            </a:r>
            <a:r>
              <a:rPr lang="en-GB" dirty="0">
                <a:solidFill>
                  <a:srgbClr val="048210"/>
                </a:solidFill>
                <a:latin typeface="Aptos" panose="020B0004020202020204" pitchFamily="34" charset="0"/>
              </a:rPr>
              <a:t>share members, and a pathway that is relevant in one model may be irrelevant in another.</a:t>
            </a:r>
            <a:br>
              <a:rPr lang="en-GB" dirty="0">
                <a:solidFill>
                  <a:srgbClr val="048210"/>
                </a:solidFill>
                <a:latin typeface="Aptos" panose="020B0004020202020204" pitchFamily="34" charset="0"/>
              </a:rPr>
            </a:br>
            <a:r>
              <a:rPr lang="en-GB" dirty="0">
                <a:solidFill>
                  <a:srgbClr val="048210"/>
                </a:solidFill>
                <a:latin typeface="Aptos" panose="020B0004020202020204" pitchFamily="34" charset="0"/>
              </a:rPr>
              <a:t>In addition, statistical tests do not consider how specific members are to a pathway. As a result, a pathway may receive a strong p-value even if only non-specific members are detected.</a:t>
            </a:r>
            <a:endParaRPr lang="hu-HU" dirty="0">
              <a:solidFill>
                <a:srgbClr val="048210"/>
              </a:solidFill>
              <a:latin typeface="Aptos" panose="020B0004020202020204" pitchFamily="34" charset="0"/>
            </a:endParaRPr>
          </a:p>
          <a:p>
            <a:endParaRPr lang="hu-HU" b="1" dirty="0">
              <a:solidFill>
                <a:srgbClr val="048210"/>
              </a:solidFill>
              <a:latin typeface="Aptos" panose="020B0004020202020204" pitchFamily="34" charset="0"/>
            </a:endParaRPr>
          </a:p>
          <a:p>
            <a:r>
              <a:rPr lang="en-GB" b="1" dirty="0">
                <a:solidFill>
                  <a:srgbClr val="048210"/>
                </a:solidFill>
                <a:latin typeface="Aptos" panose="020B0004020202020204" pitchFamily="34" charset="0"/>
              </a:rPr>
              <a:t>Therefore, we recommend assessing pathway relevance using biological domain knowledge rather than relying on p-values or combined scores.</a:t>
            </a:r>
            <a:endParaRPr lang="en-NL" b="1" dirty="0">
              <a:solidFill>
                <a:srgbClr val="048210"/>
              </a:solidFill>
              <a:latin typeface="Aptos" panose="020B0004020202020204" pitchFamily="34" charset="0"/>
            </a:endParaRPr>
          </a:p>
        </p:txBody>
      </p:sp>
      <p:sp>
        <p:nvSpPr>
          <p:cNvPr id="5" name="Content Placeholder 2">
            <a:extLst>
              <a:ext uri="{FF2B5EF4-FFF2-40B4-BE49-F238E27FC236}">
                <a16:creationId xmlns:a16="http://schemas.microsoft.com/office/drawing/2014/main" id="{AA59A07A-076D-44BD-99DB-E29ECB8B5A83}"/>
              </a:ext>
            </a:extLst>
          </p:cNvPr>
          <p:cNvSpPr>
            <a:spLocks noGrp="1"/>
          </p:cNvSpPr>
          <p:nvPr>
            <p:ph sz="quarter" idx="12"/>
          </p:nvPr>
        </p:nvSpPr>
        <p:spPr>
          <a:xfrm>
            <a:off x="524124" y="-26140"/>
            <a:ext cx="8571238" cy="636442"/>
          </a:xfrm>
        </p:spPr>
        <p:txBody>
          <a:bodyPr/>
          <a:lstStyle/>
          <a:p>
            <a:r>
              <a:rPr lang="hu-HU" sz="4000" dirty="0">
                <a:latin typeface="Calibri Light" panose="020F0302020204030204" pitchFamily="34" charset="0"/>
                <a:ea typeface="Calibri Light" panose="020F0302020204030204" pitchFamily="34" charset="0"/>
                <a:cs typeface="Calibri Light" panose="020F0302020204030204" pitchFamily="34" charset="0"/>
              </a:rPr>
              <a:t>How to select most relevant pathways?</a:t>
            </a:r>
            <a:endParaRPr lang="en-NL" sz="40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176546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0D5A15-4C49-8901-2A91-8E6202291E03}"/>
              </a:ext>
            </a:extLst>
          </p:cNvPr>
          <p:cNvSpPr>
            <a:spLocks noGrp="1"/>
          </p:cNvSpPr>
          <p:nvPr>
            <p:ph sz="quarter" idx="11"/>
          </p:nvPr>
        </p:nvSpPr>
        <p:spPr/>
        <p:txBody>
          <a:bodyPr/>
          <a:lstStyle/>
          <a:p>
            <a:endParaRPr lang="en-NL"/>
          </a:p>
        </p:txBody>
      </p:sp>
      <p:sp>
        <p:nvSpPr>
          <p:cNvPr id="3" name="Content Placeholder 2">
            <a:extLst>
              <a:ext uri="{FF2B5EF4-FFF2-40B4-BE49-F238E27FC236}">
                <a16:creationId xmlns:a16="http://schemas.microsoft.com/office/drawing/2014/main" id="{81EA2D91-976A-26B3-B579-22382D373E03}"/>
              </a:ext>
            </a:extLst>
          </p:cNvPr>
          <p:cNvSpPr>
            <a:spLocks noGrp="1"/>
          </p:cNvSpPr>
          <p:nvPr>
            <p:ph sz="quarter" idx="12"/>
          </p:nvPr>
        </p:nvSpPr>
        <p:spPr>
          <a:xfrm>
            <a:off x="524125" y="-26140"/>
            <a:ext cx="6507296" cy="636442"/>
          </a:xfrm>
        </p:spPr>
        <p:txBody>
          <a:bodyPr/>
          <a:lstStyle/>
          <a:p>
            <a:r>
              <a:rPr lang="hu-HU" dirty="0">
                <a:latin typeface="Calibri Light" panose="020F0302020204030204" pitchFamily="34" charset="0"/>
                <a:ea typeface="Calibri Light" panose="020F0302020204030204" pitchFamily="34" charset="0"/>
                <a:cs typeface="Calibri Light" panose="020F0302020204030204" pitchFamily="34" charset="0"/>
              </a:rPr>
              <a:t>Other network files</a:t>
            </a:r>
            <a:endParaRPr lang="en-NL"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TextBox 4">
            <a:extLst>
              <a:ext uri="{FF2B5EF4-FFF2-40B4-BE49-F238E27FC236}">
                <a16:creationId xmlns:a16="http://schemas.microsoft.com/office/drawing/2014/main" id="{9AB21C08-AF3B-F44F-B604-B4B9BB4136BB}"/>
              </a:ext>
            </a:extLst>
          </p:cNvPr>
          <p:cNvSpPr txBox="1"/>
          <p:nvPr/>
        </p:nvSpPr>
        <p:spPr>
          <a:xfrm>
            <a:off x="524124" y="1452403"/>
            <a:ext cx="10448675" cy="1754326"/>
          </a:xfrm>
          <a:prstGeom prst="rect">
            <a:avLst/>
          </a:prstGeom>
          <a:noFill/>
        </p:spPr>
        <p:txBody>
          <a:bodyPr wrap="square">
            <a:spAutoFit/>
          </a:bodyPr>
          <a:lstStyle/>
          <a:p>
            <a:pPr marL="342900" lvl="0" indent="-342900">
              <a:buFont typeface="Aptos" panose="020B0004020202020204" pitchFamily="34" charset="0"/>
              <a:buChar char="-"/>
            </a:pPr>
            <a:r>
              <a:rPr lang="hu-HU" sz="1800" b="1" dirty="0">
                <a:effectLst/>
                <a:latin typeface="Aptos" panose="020B0004020202020204" pitchFamily="34" charset="0"/>
                <a:ea typeface="Aptos" panose="020B0004020202020204" pitchFamily="34" charset="0"/>
                <a:cs typeface="Times New Roman" panose="02020603050405020304" pitchFamily="18" charset="0"/>
              </a:rPr>
              <a:t>Nodes.csv: </a:t>
            </a:r>
            <a:r>
              <a:rPr lang="hu-HU" sz="1800" dirty="0">
                <a:effectLst/>
                <a:latin typeface="Aptos" panose="020B0004020202020204" pitchFamily="34" charset="0"/>
                <a:ea typeface="Aptos" panose="020B0004020202020204" pitchFamily="34" charset="0"/>
                <a:cs typeface="Times New Roman" panose="02020603050405020304" pitchFamily="18" charset="0"/>
              </a:rPr>
              <a:t>list of all kinase and hidden nodes in the network</a:t>
            </a:r>
          </a:p>
          <a:p>
            <a:pPr marL="342900" lvl="0" indent="-342900">
              <a:buFont typeface="Aptos" panose="020B0004020202020204" pitchFamily="34" charset="0"/>
              <a:buChar char="-"/>
            </a:pPr>
            <a:r>
              <a:rPr lang="hu-HU" b="1" dirty="0">
                <a:latin typeface="Aptos" panose="020B0004020202020204" pitchFamily="34" charset="0"/>
                <a:ea typeface="Aptos" panose="020B0004020202020204" pitchFamily="34" charset="0"/>
                <a:cs typeface="Times New Roman" panose="02020603050405020304" pitchFamily="18" charset="0"/>
              </a:rPr>
              <a:t>Nodes_clusters: </a:t>
            </a:r>
            <a:r>
              <a:rPr lang="hu-HU" dirty="0">
                <a:latin typeface="Aptos" panose="020B0004020202020204" pitchFamily="34" charset="0"/>
                <a:ea typeface="Aptos" panose="020B0004020202020204" pitchFamily="34" charset="0"/>
                <a:cs typeface="Times New Roman" panose="02020603050405020304" pitchFamily="18" charset="0"/>
              </a:rPr>
              <a:t>Network clusters.</a:t>
            </a:r>
            <a:endParaRPr lang="en-NL" sz="2000" b="1"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Aptos" panose="020B0004020202020204" pitchFamily="34" charset="0"/>
              <a:buChar char="-"/>
            </a:pPr>
            <a:r>
              <a:rPr lang="hu-HU" sz="1800" b="1" dirty="0">
                <a:effectLst/>
                <a:latin typeface="Aptos" panose="020B0004020202020204" pitchFamily="34" charset="0"/>
                <a:ea typeface="Aptos" panose="020B0004020202020204" pitchFamily="34" charset="0"/>
                <a:cs typeface="Times New Roman" panose="02020603050405020304" pitchFamily="18" charset="0"/>
              </a:rPr>
              <a:t>Missing nodes.csv: </a:t>
            </a:r>
            <a:r>
              <a:rPr lang="hu-HU" sz="1800" dirty="0">
                <a:effectLst/>
                <a:latin typeface="Aptos" panose="020B0004020202020204" pitchFamily="34" charset="0"/>
                <a:ea typeface="Aptos" panose="020B0004020202020204" pitchFamily="34" charset="0"/>
                <a:cs typeface="Times New Roman" panose="02020603050405020304" pitchFamily="18" charset="0"/>
              </a:rPr>
              <a:t>kinases that passed the thresholds but are not in the network because they are weakly connected / low fold change. Might be false positives.</a:t>
            </a:r>
            <a:endParaRPr lang="en-NL" sz="2000" b="1"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Aptos" panose="020B0004020202020204" pitchFamily="34" charset="0"/>
              <a:buChar char="-"/>
            </a:pPr>
            <a:r>
              <a:rPr lang="hu-HU" sz="1800" b="1" dirty="0">
                <a:effectLst/>
                <a:latin typeface="Aptos" panose="020B0004020202020204" pitchFamily="34" charset="0"/>
                <a:ea typeface="Aptos" panose="020B0004020202020204" pitchFamily="34" charset="0"/>
                <a:cs typeface="Times New Roman" panose="02020603050405020304" pitchFamily="18" charset="0"/>
              </a:rPr>
              <a:t>Nodes with pathways.csv: </a:t>
            </a:r>
            <a:r>
              <a:rPr lang="hu-HU" sz="1800" dirty="0">
                <a:effectLst/>
                <a:latin typeface="Aptos" panose="020B0004020202020204" pitchFamily="34" charset="0"/>
                <a:ea typeface="Aptos" panose="020B0004020202020204" pitchFamily="34" charset="0"/>
                <a:cs typeface="Times New Roman" panose="02020603050405020304" pitchFamily="18" charset="0"/>
              </a:rPr>
              <a:t>nodes to pathways</a:t>
            </a:r>
            <a:r>
              <a:rPr lang="hu-HU" b="1" dirty="0">
                <a:latin typeface="Aptos" panose="020B0004020202020204" pitchFamily="34" charset="0"/>
                <a:ea typeface="Aptos" panose="020B0004020202020204" pitchFamily="34" charset="0"/>
                <a:cs typeface="Times New Roman" panose="02020603050405020304" pitchFamily="18" charset="0"/>
              </a:rPr>
              <a:t> </a:t>
            </a:r>
            <a:r>
              <a:rPr lang="hu-HU" dirty="0">
                <a:latin typeface="Aptos" panose="020B0004020202020204" pitchFamily="34" charset="0"/>
                <a:ea typeface="Aptos" panose="020B0004020202020204" pitchFamily="34" charset="0"/>
                <a:cs typeface="Times New Roman" panose="02020603050405020304" pitchFamily="18" charset="0"/>
              </a:rPr>
              <a:t>mapping</a:t>
            </a:r>
            <a:endParaRPr lang="hu-HU" sz="18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Aptos" panose="020B0004020202020204" pitchFamily="34" charset="0"/>
              <a:buChar char="-"/>
            </a:pPr>
            <a:r>
              <a:rPr lang="hu-HU" sz="1800" dirty="0">
                <a:effectLst/>
                <a:latin typeface="Aptos" panose="020B0004020202020204" pitchFamily="34" charset="0"/>
                <a:ea typeface="Aptos" panose="020B0004020202020204" pitchFamily="34" charset="0"/>
                <a:cs typeface="Times New Roman" panose="02020603050405020304" pitchFamily="18" charset="0"/>
              </a:rPr>
              <a:t>Folders with the files </a:t>
            </a:r>
            <a:r>
              <a:rPr lang="hu-HU" dirty="0">
                <a:latin typeface="Aptos" panose="020B0004020202020204" pitchFamily="34" charset="0"/>
                <a:ea typeface="Aptos" panose="020B0004020202020204" pitchFamily="34" charset="0"/>
                <a:cs typeface="Times New Roman" panose="02020603050405020304" pitchFamily="18" charset="0"/>
              </a:rPr>
              <a:t>of the </a:t>
            </a:r>
            <a:r>
              <a:rPr lang="hu-HU" sz="1800" dirty="0">
                <a:effectLst/>
                <a:latin typeface="Aptos" panose="020B0004020202020204" pitchFamily="34" charset="0"/>
                <a:ea typeface="Aptos" panose="020B0004020202020204" pitchFamily="34" charset="0"/>
                <a:cs typeface="Times New Roman" panose="02020603050405020304" pitchFamily="18" charset="0"/>
              </a:rPr>
              <a:t>network html (don’t delete it)</a:t>
            </a:r>
          </a:p>
        </p:txBody>
      </p:sp>
    </p:spTree>
    <p:extLst>
      <p:ext uri="{BB962C8B-B14F-4D97-AF65-F5344CB8AC3E}">
        <p14:creationId xmlns:p14="http://schemas.microsoft.com/office/powerpoint/2010/main" val="1421716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75D50D-772A-BF89-5120-801371F7DAF0}"/>
              </a:ext>
            </a:extLst>
          </p:cNvPr>
          <p:cNvSpPr>
            <a:spLocks noGrp="1"/>
          </p:cNvSpPr>
          <p:nvPr>
            <p:ph sz="quarter" idx="11"/>
          </p:nvPr>
        </p:nvSpPr>
        <p:spPr/>
        <p:txBody>
          <a:bodyPr/>
          <a:lstStyle/>
          <a:p>
            <a:endParaRPr lang="en-NL"/>
          </a:p>
        </p:txBody>
      </p:sp>
      <p:sp>
        <p:nvSpPr>
          <p:cNvPr id="3" name="Content Placeholder 2">
            <a:extLst>
              <a:ext uri="{FF2B5EF4-FFF2-40B4-BE49-F238E27FC236}">
                <a16:creationId xmlns:a16="http://schemas.microsoft.com/office/drawing/2014/main" id="{FAAD7D08-768F-BEF5-F296-8B9B703F19F4}"/>
              </a:ext>
            </a:extLst>
          </p:cNvPr>
          <p:cNvSpPr>
            <a:spLocks noGrp="1"/>
          </p:cNvSpPr>
          <p:nvPr>
            <p:ph sz="quarter" idx="12"/>
          </p:nvPr>
        </p:nvSpPr>
        <p:spPr>
          <a:xfrm>
            <a:off x="524124" y="25394"/>
            <a:ext cx="10143875" cy="636442"/>
          </a:xfrm>
        </p:spPr>
        <p:txBody>
          <a:bodyPr/>
          <a:lstStyle/>
          <a:p>
            <a:r>
              <a:rPr lang="hu-HU" sz="3600" dirty="0">
                <a:latin typeface="Calibri Light" panose="020F0302020204030204" pitchFamily="34" charset="0"/>
                <a:cs typeface="Calibri Light" panose="020F0302020204030204" pitchFamily="34" charset="0"/>
              </a:rPr>
              <a:t>PCSF in details</a:t>
            </a:r>
            <a:endParaRPr lang="en-NL" sz="3600" dirty="0">
              <a:latin typeface="Calibri Light" panose="020F0302020204030204" pitchFamily="34" charset="0"/>
              <a:cs typeface="Calibri Light" panose="020F0302020204030204" pitchFamily="34" charset="0"/>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462E682-FB7F-9325-EE9A-E3022366A017}"/>
                  </a:ext>
                </a:extLst>
              </p:cNvPr>
              <p:cNvSpPr txBox="1"/>
              <p:nvPr/>
            </p:nvSpPr>
            <p:spPr>
              <a:xfrm>
                <a:off x="375628" y="1217667"/>
                <a:ext cx="10391775" cy="2551468"/>
              </a:xfrm>
              <a:prstGeom prst="rect">
                <a:avLst/>
              </a:prstGeom>
              <a:noFill/>
            </p:spPr>
            <p:txBody>
              <a:bodyPr wrap="square">
                <a:spAutoFit/>
              </a:bodyPr>
              <a:lstStyle/>
              <a:p>
                <a:r>
                  <a:rPr lang="en-GB" sz="1500" dirty="0">
                    <a:latin typeface="Aptos" panose="020B0004020202020204" pitchFamily="34" charset="0"/>
                  </a:rPr>
                  <a:t>The PCSF </a:t>
                </a:r>
                <a:r>
                  <a:rPr lang="hu-HU" sz="1500" dirty="0">
                    <a:latin typeface="Aptos" panose="020B0004020202020204" pitchFamily="34" charset="0"/>
                  </a:rPr>
                  <a:t>(</a:t>
                </a:r>
                <a:r>
                  <a:rPr lang="en-GB" sz="1500" dirty="0">
                    <a:latin typeface="Aptos" panose="020B0004020202020204" pitchFamily="34" charset="0"/>
                    <a:hlinkClick r:id="rId2"/>
                  </a:rPr>
                  <a:t>Prize-Collecting Steiner Forest algorithm</a:t>
                </a:r>
                <a:r>
                  <a:rPr lang="hu-HU" sz="1500" dirty="0">
                    <a:latin typeface="Aptos" panose="020B0004020202020204" pitchFamily="34" charset="0"/>
                  </a:rPr>
                  <a:t>) </a:t>
                </a:r>
                <a:r>
                  <a:rPr lang="en-GB" sz="1500" dirty="0">
                    <a:latin typeface="Aptos" panose="020B0004020202020204" pitchFamily="34" charset="0"/>
                  </a:rPr>
                  <a:t>solves a network optimization problem</a:t>
                </a:r>
                <a:r>
                  <a:rPr lang="hu-HU" sz="1500" dirty="0">
                    <a:latin typeface="Aptos" panose="020B0004020202020204" pitchFamily="34" charset="0"/>
                  </a:rPr>
                  <a:t>. Given a reference network, where the nodes have prizes and the edges have costs, it aims to identify a subnetwork  with a given node input. Subnetwork construction is an optimization to minimize the total edge costs and the total node prizes left out:</a:t>
                </a:r>
              </a:p>
              <a:p>
                <a:pPr/>
                <a14:m>
                  <m:oMathPara xmlns:m="http://schemas.openxmlformats.org/officeDocument/2006/math">
                    <m:oMathParaPr>
                      <m:jc m:val="centerGroup"/>
                    </m:oMathParaPr>
                    <m:oMath xmlns:m="http://schemas.openxmlformats.org/officeDocument/2006/math">
                      <m:r>
                        <a:rPr lang="hu-HU" sz="1500" b="0" i="1" smtClean="0">
                          <a:latin typeface="Cambria Math" panose="02040503050406030204" pitchFamily="18" charset="0"/>
                        </a:rPr>
                        <m:t>𝑀𝑖𝑛𝑖𝑚𝑖𝑧𝑒</m:t>
                      </m:r>
                      <m:d>
                        <m:dPr>
                          <m:ctrlPr>
                            <a:rPr lang="hu-HU" sz="1500" b="0" i="1" smtClean="0">
                              <a:latin typeface="Cambria Math" panose="02040503050406030204" pitchFamily="18" charset="0"/>
                            </a:rPr>
                          </m:ctrlPr>
                        </m:dPr>
                        <m:e>
                          <m:nary>
                            <m:naryPr>
                              <m:chr m:val="∑"/>
                              <m:subHide m:val="on"/>
                              <m:supHide m:val="on"/>
                              <m:ctrlPr>
                                <a:rPr lang="hu-HU" sz="1500" i="1">
                                  <a:latin typeface="Cambria Math" panose="02040503050406030204" pitchFamily="18" charset="0"/>
                                </a:rPr>
                              </m:ctrlPr>
                            </m:naryPr>
                            <m:sub/>
                            <m:sup/>
                            <m:e>
                              <m:r>
                                <a:rPr lang="hu-HU" sz="1500" i="1">
                                  <a:latin typeface="Cambria Math" panose="02040503050406030204" pitchFamily="18" charset="0"/>
                                </a:rPr>
                                <m:t>𝑒𝑑𝑔𝑒</m:t>
                              </m:r>
                              <m:r>
                                <a:rPr lang="hu-HU" sz="1500" i="1">
                                  <a:latin typeface="Cambria Math" panose="02040503050406030204" pitchFamily="18" charset="0"/>
                                </a:rPr>
                                <m:t> </m:t>
                              </m:r>
                              <m:r>
                                <a:rPr lang="hu-HU" sz="1500" i="1">
                                  <a:latin typeface="Cambria Math" panose="02040503050406030204" pitchFamily="18" charset="0"/>
                                </a:rPr>
                                <m:t>𝑐𝑜𝑠𝑡</m:t>
                              </m:r>
                            </m:e>
                          </m:nary>
                          <m:r>
                            <a:rPr lang="hu-HU" sz="1500" i="1">
                              <a:latin typeface="Cambria Math" panose="02040503050406030204" pitchFamily="18" charset="0"/>
                            </a:rPr>
                            <m:t>+</m:t>
                          </m:r>
                          <m:r>
                            <a:rPr lang="hu-HU" sz="1500" i="1">
                              <a:latin typeface="Cambria Math" panose="02040503050406030204" pitchFamily="18" charset="0"/>
                            </a:rPr>
                            <m:t>𝑏</m:t>
                          </m:r>
                          <m:nary>
                            <m:naryPr>
                              <m:chr m:val="∑"/>
                              <m:subHide m:val="on"/>
                              <m:supHide m:val="on"/>
                              <m:ctrlPr>
                                <a:rPr lang="hu-HU" sz="1500" i="1">
                                  <a:latin typeface="Cambria Math" panose="02040503050406030204" pitchFamily="18" charset="0"/>
                                </a:rPr>
                              </m:ctrlPr>
                            </m:naryPr>
                            <m:sub/>
                            <m:sup/>
                            <m:e>
                              <m:r>
                                <a:rPr lang="hu-HU" sz="1500" i="1">
                                  <a:latin typeface="Cambria Math" panose="02040503050406030204" pitchFamily="18" charset="0"/>
                                </a:rPr>
                                <m:t>𝑝𝑟𝑖𝑧𝑒</m:t>
                              </m:r>
                              <m:r>
                                <a:rPr lang="hu-HU" sz="1500" i="1">
                                  <a:latin typeface="Cambria Math" panose="02040503050406030204" pitchFamily="18" charset="0"/>
                                </a:rPr>
                                <m:t> </m:t>
                              </m:r>
                              <m:r>
                                <a:rPr lang="hu-HU" sz="1500" b="0" i="1" smtClean="0">
                                  <a:latin typeface="Cambria Math" panose="02040503050406030204" pitchFamily="18" charset="0"/>
                                </a:rPr>
                                <m:t>𝑜𝑓</m:t>
                              </m:r>
                              <m:r>
                                <a:rPr lang="hu-HU" sz="1500" b="0" i="1" smtClean="0">
                                  <a:latin typeface="Cambria Math" panose="02040503050406030204" pitchFamily="18" charset="0"/>
                                </a:rPr>
                                <m:t> </m:t>
                              </m:r>
                              <m:r>
                                <a:rPr lang="hu-HU" sz="1500" b="0" i="1" smtClean="0">
                                  <a:latin typeface="Cambria Math" panose="02040503050406030204" pitchFamily="18" charset="0"/>
                                </a:rPr>
                                <m:t>𝑛𝑜𝑑𝑒𝑠</m:t>
                              </m:r>
                              <m:r>
                                <a:rPr lang="hu-HU" sz="1500" b="0" i="1" smtClean="0">
                                  <a:latin typeface="Cambria Math" panose="02040503050406030204" pitchFamily="18" charset="0"/>
                                </a:rPr>
                                <m:t> </m:t>
                              </m:r>
                              <m:r>
                                <a:rPr lang="hu-HU" sz="1500" b="0" i="1" smtClean="0">
                                  <a:latin typeface="Cambria Math" panose="02040503050406030204" pitchFamily="18" charset="0"/>
                                </a:rPr>
                                <m:t>𝑙𝑒𝑓𝑡</m:t>
                              </m:r>
                              <m:r>
                                <a:rPr lang="hu-HU" sz="1500" b="0" i="1" smtClean="0">
                                  <a:latin typeface="Cambria Math" panose="02040503050406030204" pitchFamily="18" charset="0"/>
                                </a:rPr>
                                <m:t> </m:t>
                              </m:r>
                              <m:r>
                                <a:rPr lang="hu-HU" sz="1500" b="0" i="1" smtClean="0">
                                  <a:latin typeface="Cambria Math" panose="02040503050406030204" pitchFamily="18" charset="0"/>
                                </a:rPr>
                                <m:t>𝑜𝑢𝑡</m:t>
                              </m:r>
                            </m:e>
                          </m:nary>
                        </m:e>
                      </m:d>
                    </m:oMath>
                  </m:oMathPara>
                </a14:m>
                <a:endParaRPr lang="hu-HU" sz="1500" dirty="0">
                  <a:latin typeface="Aptos" panose="020B0004020202020204" pitchFamily="34" charset="0"/>
                </a:endParaRPr>
              </a:p>
              <a:p>
                <a:r>
                  <a:rPr lang="hu-HU" sz="1500" dirty="0">
                    <a:latin typeface="Aptos" panose="020B0004020202020204" pitchFamily="34" charset="0"/>
                  </a:rPr>
                  <a:t>Where b </a:t>
                </a:r>
                <a:r>
                  <a:rPr lang="en-GB" sz="1500" dirty="0">
                    <a:latin typeface="Aptos" panose="020B0004020202020204" pitchFamily="34" charset="0"/>
                  </a:rPr>
                  <a:t>is used to tune the prizes of nodes relative to edge cost</a:t>
                </a:r>
                <a:r>
                  <a:rPr lang="hu-HU" sz="1500" dirty="0">
                    <a:latin typeface="Aptos" panose="020B0004020202020204" pitchFamily="34" charset="0"/>
                  </a:rPr>
                  <a:t>s. Higher b leads to more input nodes incorporated in the result subnetwork.</a:t>
                </a:r>
              </a:p>
              <a:p>
                <a:br>
                  <a:rPr lang="hu-HU" sz="1500" dirty="0">
                    <a:latin typeface="Aptos" panose="020B0004020202020204" pitchFamily="34" charset="0"/>
                  </a:rPr>
                </a:br>
                <a:r>
                  <a:rPr lang="en-GB" sz="1500" dirty="0">
                    <a:latin typeface="Aptos" panose="020B0004020202020204" pitchFamily="34" charset="0"/>
                  </a:rPr>
                  <a:t>We use the PCSF R package with the STRING network (v12.0) </a:t>
                </a:r>
                <a:r>
                  <a:rPr lang="hu-HU" sz="1500" dirty="0">
                    <a:latin typeface="Aptos" panose="020B0004020202020204" pitchFamily="34" charset="0"/>
                  </a:rPr>
                  <a:t>containing all edges </a:t>
                </a:r>
                <a:r>
                  <a:rPr lang="en-GB" sz="1500" dirty="0">
                    <a:latin typeface="Aptos" panose="020B0004020202020204" pitchFamily="34" charset="0"/>
                  </a:rPr>
                  <a:t>as the reference interactome</a:t>
                </a:r>
                <a:r>
                  <a:rPr lang="hu-HU" sz="1500" dirty="0">
                    <a:latin typeface="Aptos" panose="020B0004020202020204" pitchFamily="34" charset="0"/>
                  </a:rPr>
                  <a:t>. N</a:t>
                </a:r>
                <a:r>
                  <a:rPr lang="en-GB" sz="1500" dirty="0">
                    <a:latin typeface="Aptos" panose="020B0004020202020204" pitchFamily="34" charset="0"/>
                  </a:rPr>
                  <a:t>ode prizes </a:t>
                </a:r>
                <a:r>
                  <a:rPr lang="hu-HU" sz="1500" dirty="0">
                    <a:latin typeface="Aptos" panose="020B0004020202020204" pitchFamily="34" charset="0"/>
                  </a:rPr>
                  <a:t>are assigned </a:t>
                </a:r>
                <a:r>
                  <a:rPr lang="en-GB" sz="1500" dirty="0">
                    <a:latin typeface="Aptos" panose="020B0004020202020204" pitchFamily="34" charset="0"/>
                  </a:rPr>
                  <a:t>based on the UKA and Target Fold Changes.</a:t>
                </a:r>
                <a:endParaRPr lang="hu-HU" sz="1500" dirty="0">
                  <a:latin typeface="Aptos" panose="020B0004020202020204" pitchFamily="34" charset="0"/>
                </a:endParaRPr>
              </a:p>
            </p:txBody>
          </p:sp>
        </mc:Choice>
        <mc:Fallback>
          <p:sp>
            <p:nvSpPr>
              <p:cNvPr id="4" name="TextBox 3">
                <a:extLst>
                  <a:ext uri="{FF2B5EF4-FFF2-40B4-BE49-F238E27FC236}">
                    <a16:creationId xmlns:a16="http://schemas.microsoft.com/office/drawing/2014/main" id="{4462E682-FB7F-9325-EE9A-E3022366A017}"/>
                  </a:ext>
                </a:extLst>
              </p:cNvPr>
              <p:cNvSpPr txBox="1">
                <a:spLocks noRot="1" noChangeAspect="1" noMove="1" noResize="1" noEditPoints="1" noAdjustHandles="1" noChangeArrowheads="1" noChangeShapeType="1" noTextEdit="1"/>
              </p:cNvSpPr>
              <p:nvPr/>
            </p:nvSpPr>
            <p:spPr>
              <a:xfrm>
                <a:off x="375628" y="1217667"/>
                <a:ext cx="10391775" cy="2551468"/>
              </a:xfrm>
              <a:prstGeom prst="rect">
                <a:avLst/>
              </a:prstGeom>
              <a:blipFill>
                <a:blip r:embed="rId3"/>
                <a:stretch>
                  <a:fillRect l="-235" t="-478" b="-1914"/>
                </a:stretch>
              </a:blipFill>
            </p:spPr>
            <p:txBody>
              <a:bodyPr/>
              <a:lstStyle/>
              <a:p>
                <a:r>
                  <a:rPr lang="en-NL">
                    <a:noFill/>
                  </a:rPr>
                  <a:t> </a:t>
                </a:r>
              </a:p>
            </p:txBody>
          </p:sp>
        </mc:Fallback>
      </mc:AlternateContent>
    </p:spTree>
    <p:extLst>
      <p:ext uri="{BB962C8B-B14F-4D97-AF65-F5344CB8AC3E}">
        <p14:creationId xmlns:p14="http://schemas.microsoft.com/office/powerpoint/2010/main" val="2384262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275A732-D0C9-F7AE-AB31-DBA4D6876249}"/>
              </a:ext>
            </a:extLst>
          </p:cNvPr>
          <p:cNvGraphicFramePr>
            <a:graphicFrameLocks noGrp="1"/>
          </p:cNvGraphicFramePr>
          <p:nvPr>
            <p:ph sz="quarter" idx="11"/>
            <p:extLst>
              <p:ext uri="{D42A27DB-BD31-4B8C-83A1-F6EECF244321}">
                <p14:modId xmlns:p14="http://schemas.microsoft.com/office/powerpoint/2010/main" val="2755111560"/>
              </p:ext>
            </p:extLst>
          </p:nvPr>
        </p:nvGraphicFramePr>
        <p:xfrm>
          <a:off x="524125" y="1225731"/>
          <a:ext cx="9363732" cy="4406538"/>
        </p:xfrm>
        <a:graphic>
          <a:graphicData uri="http://schemas.openxmlformats.org/drawingml/2006/table">
            <a:tbl>
              <a:tblPr firstRow="1" bandRow="1">
                <a:tableStyleId>{073A0DAA-6AF3-43AB-8588-CEC1D06C72B9}</a:tableStyleId>
              </a:tblPr>
              <a:tblGrid>
                <a:gridCol w="2340933">
                  <a:extLst>
                    <a:ext uri="{9D8B030D-6E8A-4147-A177-3AD203B41FA5}">
                      <a16:colId xmlns:a16="http://schemas.microsoft.com/office/drawing/2014/main" val="3210367554"/>
                    </a:ext>
                  </a:extLst>
                </a:gridCol>
                <a:gridCol w="2340933">
                  <a:extLst>
                    <a:ext uri="{9D8B030D-6E8A-4147-A177-3AD203B41FA5}">
                      <a16:colId xmlns:a16="http://schemas.microsoft.com/office/drawing/2014/main" val="3298364822"/>
                    </a:ext>
                  </a:extLst>
                </a:gridCol>
                <a:gridCol w="2340933">
                  <a:extLst>
                    <a:ext uri="{9D8B030D-6E8A-4147-A177-3AD203B41FA5}">
                      <a16:colId xmlns:a16="http://schemas.microsoft.com/office/drawing/2014/main" val="3821311179"/>
                    </a:ext>
                  </a:extLst>
                </a:gridCol>
                <a:gridCol w="2340933">
                  <a:extLst>
                    <a:ext uri="{9D8B030D-6E8A-4147-A177-3AD203B41FA5}">
                      <a16:colId xmlns:a16="http://schemas.microsoft.com/office/drawing/2014/main" val="2976871019"/>
                    </a:ext>
                  </a:extLst>
                </a:gridCol>
              </a:tblGrid>
              <a:tr h="375986">
                <a:tc>
                  <a:txBody>
                    <a:bodyPr/>
                    <a:lstStyle/>
                    <a:p>
                      <a:pPr>
                        <a:lnSpc>
                          <a:spcPct val="107000"/>
                        </a:lnSpc>
                        <a:spcAft>
                          <a:spcPts val="800"/>
                        </a:spcAft>
                        <a:buNone/>
                      </a:pPr>
                      <a:r>
                        <a:rPr lang="en-NL" sz="1400" kern="100" dirty="0">
                          <a:effectLst/>
                        </a:rPr>
                        <a:t>Evidence Channel</a:t>
                      </a:r>
                      <a:endParaRPr lang="en-NL"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a:effectLst/>
                        </a:rPr>
                        <a:t>Type</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a:effectLst/>
                        </a:rPr>
                        <a:t>Reliability</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a:effectLst/>
                        </a:rPr>
                        <a:t>Key Strength</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extLst>
                  <a:ext uri="{0D108BD9-81ED-4DB2-BD59-A6C34878D82A}">
                    <a16:rowId xmlns:a16="http://schemas.microsoft.com/office/drawing/2014/main" val="2819207033"/>
                  </a:ext>
                </a:extLst>
              </a:tr>
              <a:tr h="442539">
                <a:tc>
                  <a:txBody>
                    <a:bodyPr/>
                    <a:lstStyle/>
                    <a:p>
                      <a:pPr>
                        <a:lnSpc>
                          <a:spcPct val="107000"/>
                        </a:lnSpc>
                        <a:spcAft>
                          <a:spcPts val="800"/>
                        </a:spcAft>
                        <a:buNone/>
                      </a:pPr>
                      <a:r>
                        <a:rPr lang="en-NL" sz="1400" kern="100">
                          <a:effectLst/>
                        </a:rPr>
                        <a:t>Experimental</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a:effectLst/>
                        </a:rPr>
                        <a:t>Direct</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dirty="0">
                          <a:effectLst/>
                        </a:rPr>
                        <a:t>🥇 Highest</a:t>
                      </a:r>
                      <a:endParaRPr lang="en-NL"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a:effectLst/>
                        </a:rPr>
                        <a:t>Proof of direct physical or genetic interaction.</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extLst>
                  <a:ext uri="{0D108BD9-81ED-4DB2-BD59-A6C34878D82A}">
                    <a16:rowId xmlns:a16="http://schemas.microsoft.com/office/drawing/2014/main" val="1159223849"/>
                  </a:ext>
                </a:extLst>
              </a:tr>
              <a:tr h="605420">
                <a:tc>
                  <a:txBody>
                    <a:bodyPr/>
                    <a:lstStyle/>
                    <a:p>
                      <a:pPr>
                        <a:lnSpc>
                          <a:spcPct val="107000"/>
                        </a:lnSpc>
                        <a:spcAft>
                          <a:spcPts val="800"/>
                        </a:spcAft>
                        <a:buNone/>
                      </a:pPr>
                      <a:r>
                        <a:rPr lang="en-NL" sz="1400" kern="100" dirty="0">
                          <a:effectLst/>
                        </a:rPr>
                        <a:t>Curated Databases</a:t>
                      </a:r>
                      <a:endParaRPr lang="en-NL"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dirty="0">
                          <a:effectLst/>
                        </a:rPr>
                        <a:t>Direct</a:t>
                      </a:r>
                      <a:endParaRPr lang="en-NL"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dirty="0">
                          <a:effectLst/>
                        </a:rPr>
                        <a:t>🥇 Very High</a:t>
                      </a:r>
                      <a:endParaRPr lang="en-NL"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a:effectLst/>
                        </a:rPr>
                        <a:t>Expert-validated functional association in pathways/complexes.</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extLst>
                  <a:ext uri="{0D108BD9-81ED-4DB2-BD59-A6C34878D82A}">
                    <a16:rowId xmlns:a16="http://schemas.microsoft.com/office/drawing/2014/main" val="2464623132"/>
                  </a:ext>
                </a:extLst>
              </a:tr>
              <a:tr h="605420">
                <a:tc>
                  <a:txBody>
                    <a:bodyPr/>
                    <a:lstStyle/>
                    <a:p>
                      <a:pPr>
                        <a:lnSpc>
                          <a:spcPct val="107000"/>
                        </a:lnSpc>
                        <a:spcAft>
                          <a:spcPts val="800"/>
                        </a:spcAft>
                        <a:buNone/>
                      </a:pPr>
                      <a:r>
                        <a:rPr lang="en-NL" sz="1400" kern="100" dirty="0">
                          <a:effectLst/>
                        </a:rPr>
                        <a:t>Gene Fusion</a:t>
                      </a:r>
                      <a:endParaRPr lang="en-NL"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a:effectLst/>
                        </a:rPr>
                        <a:t>Genomic</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a:effectLst/>
                        </a:rPr>
                        <a:t>🥈 High</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a:effectLst/>
                        </a:rPr>
                        <a:t>Strong evolutionary evidence for functional interaction.</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extLst>
                  <a:ext uri="{0D108BD9-81ED-4DB2-BD59-A6C34878D82A}">
                    <a16:rowId xmlns:a16="http://schemas.microsoft.com/office/drawing/2014/main" val="1811399768"/>
                  </a:ext>
                </a:extLst>
              </a:tr>
              <a:tr h="605420">
                <a:tc>
                  <a:txBody>
                    <a:bodyPr/>
                    <a:lstStyle/>
                    <a:p>
                      <a:pPr>
                        <a:lnSpc>
                          <a:spcPct val="107000"/>
                        </a:lnSpc>
                        <a:spcAft>
                          <a:spcPts val="800"/>
                        </a:spcAft>
                        <a:buNone/>
                      </a:pPr>
                      <a:r>
                        <a:rPr lang="en-NL" sz="1400" kern="100">
                          <a:effectLst/>
                        </a:rPr>
                        <a:t>Gene Neighborhood</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a:effectLst/>
                        </a:rPr>
                        <a:t>Genomic</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dirty="0">
                          <a:effectLst/>
                        </a:rPr>
                        <a:t>🥈 High (Prok) / Low (</a:t>
                      </a:r>
                      <a:r>
                        <a:rPr lang="en-NL" sz="1400" kern="100" dirty="0" err="1">
                          <a:effectLst/>
                        </a:rPr>
                        <a:t>Euk</a:t>
                      </a:r>
                      <a:r>
                        <a:rPr lang="en-NL" sz="1400" kern="100" dirty="0">
                          <a:effectLst/>
                        </a:rPr>
                        <a:t>)</a:t>
                      </a:r>
                      <a:endParaRPr lang="en-NL"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a:effectLst/>
                        </a:rPr>
                        <a:t>Evidence for operons and co-regulation (mainly in bacteria).</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extLst>
                  <a:ext uri="{0D108BD9-81ED-4DB2-BD59-A6C34878D82A}">
                    <a16:rowId xmlns:a16="http://schemas.microsoft.com/office/drawing/2014/main" val="4242121560"/>
                  </a:ext>
                </a:extLst>
              </a:tr>
              <a:tr h="605420">
                <a:tc>
                  <a:txBody>
                    <a:bodyPr/>
                    <a:lstStyle/>
                    <a:p>
                      <a:pPr>
                        <a:lnSpc>
                          <a:spcPct val="107000"/>
                        </a:lnSpc>
                        <a:spcAft>
                          <a:spcPts val="800"/>
                        </a:spcAft>
                        <a:buNone/>
                      </a:pPr>
                      <a:r>
                        <a:rPr lang="en-NL" sz="1400" kern="100" dirty="0">
                          <a:effectLst/>
                        </a:rPr>
                        <a:t>Gene Co-occurrence</a:t>
                      </a:r>
                      <a:endParaRPr lang="en-NL"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a:effectLst/>
                        </a:rPr>
                        <a:t>Genomic</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a:effectLst/>
                        </a:rPr>
                        <a:t>🥈 Medium-High</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dirty="0">
                          <a:effectLst/>
                        </a:rPr>
                        <a:t>Evidence for participation in the same pathway/system.</a:t>
                      </a:r>
                      <a:endParaRPr lang="en-NL"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extLst>
                  <a:ext uri="{0D108BD9-81ED-4DB2-BD59-A6C34878D82A}">
                    <a16:rowId xmlns:a16="http://schemas.microsoft.com/office/drawing/2014/main" val="2549294842"/>
                  </a:ext>
                </a:extLst>
              </a:tr>
              <a:tr h="605420">
                <a:tc>
                  <a:txBody>
                    <a:bodyPr/>
                    <a:lstStyle/>
                    <a:p>
                      <a:pPr>
                        <a:lnSpc>
                          <a:spcPct val="107000"/>
                        </a:lnSpc>
                        <a:spcAft>
                          <a:spcPts val="800"/>
                        </a:spcAft>
                        <a:buNone/>
                      </a:pPr>
                      <a:r>
                        <a:rPr lang="en-NL" sz="1400" kern="100">
                          <a:effectLst/>
                        </a:rPr>
                        <a:t>Co-expression</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a:effectLst/>
                        </a:rPr>
                        <a:t>Functional</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a:effectLst/>
                        </a:rPr>
                        <a:t>🥈 Medium</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dirty="0">
                          <a:effectLst/>
                        </a:rPr>
                        <a:t>Strong evidence for co-regulation and functional association.</a:t>
                      </a:r>
                      <a:endParaRPr lang="en-NL"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extLst>
                  <a:ext uri="{0D108BD9-81ED-4DB2-BD59-A6C34878D82A}">
                    <a16:rowId xmlns:a16="http://schemas.microsoft.com/office/drawing/2014/main" val="2027373043"/>
                  </a:ext>
                </a:extLst>
              </a:tr>
              <a:tr h="375986">
                <a:tc>
                  <a:txBody>
                    <a:bodyPr/>
                    <a:lstStyle/>
                    <a:p>
                      <a:pPr>
                        <a:lnSpc>
                          <a:spcPct val="107000"/>
                        </a:lnSpc>
                        <a:spcAft>
                          <a:spcPts val="800"/>
                        </a:spcAft>
                        <a:buNone/>
                      </a:pPr>
                      <a:r>
                        <a:rPr lang="en-NL" sz="1400" kern="100" dirty="0">
                          <a:effectLst/>
                        </a:rPr>
                        <a:t>Text mining</a:t>
                      </a:r>
                      <a:endParaRPr lang="en-NL"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dirty="0">
                          <a:effectLst/>
                        </a:rPr>
                        <a:t>Literature</a:t>
                      </a:r>
                      <a:endParaRPr lang="en-NL"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a:effectLst/>
                        </a:rPr>
                        <a:t>🥉 Lower</a:t>
                      </a:r>
                      <a:endParaRPr lang="en-NL" sz="1400" kern="10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tc>
                  <a:txBody>
                    <a:bodyPr/>
                    <a:lstStyle/>
                    <a:p>
                      <a:pPr>
                        <a:lnSpc>
                          <a:spcPct val="107000"/>
                        </a:lnSpc>
                        <a:spcAft>
                          <a:spcPts val="800"/>
                        </a:spcAft>
                        <a:buNone/>
                      </a:pPr>
                      <a:r>
                        <a:rPr lang="en-NL" sz="1400" kern="100" dirty="0">
                          <a:effectLst/>
                        </a:rPr>
                        <a:t>High-level associative </a:t>
                      </a:r>
                      <a:endParaRPr lang="en-NL"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16" marR="9816" marT="6135" marB="6135" anchor="ctr"/>
                </a:tc>
                <a:extLst>
                  <a:ext uri="{0D108BD9-81ED-4DB2-BD59-A6C34878D82A}">
                    <a16:rowId xmlns:a16="http://schemas.microsoft.com/office/drawing/2014/main" val="2149620202"/>
                  </a:ext>
                </a:extLst>
              </a:tr>
            </a:tbl>
          </a:graphicData>
        </a:graphic>
      </p:graphicFrame>
      <p:sp>
        <p:nvSpPr>
          <p:cNvPr id="3" name="Content Placeholder 2">
            <a:extLst>
              <a:ext uri="{FF2B5EF4-FFF2-40B4-BE49-F238E27FC236}">
                <a16:creationId xmlns:a16="http://schemas.microsoft.com/office/drawing/2014/main" id="{4E495B43-1EA0-CD3C-8182-EA9D9BBB39D3}"/>
              </a:ext>
            </a:extLst>
          </p:cNvPr>
          <p:cNvSpPr>
            <a:spLocks noGrp="1"/>
          </p:cNvSpPr>
          <p:nvPr>
            <p:ph sz="quarter" idx="12"/>
          </p:nvPr>
        </p:nvSpPr>
        <p:spPr>
          <a:xfrm>
            <a:off x="524125" y="-26140"/>
            <a:ext cx="8707424" cy="636442"/>
          </a:xfrm>
        </p:spPr>
        <p:txBody>
          <a:bodyPr/>
          <a:lstStyle/>
          <a:p>
            <a:r>
              <a:rPr lang="hu-HU" dirty="0">
                <a:latin typeface="Calibri Light" panose="020F0302020204030204" pitchFamily="34" charset="0"/>
                <a:ea typeface="Calibri Light" panose="020F0302020204030204" pitchFamily="34" charset="0"/>
                <a:cs typeface="Calibri Light" panose="020F0302020204030204" pitchFamily="34" charset="0"/>
              </a:rPr>
              <a:t>Evidence channels of STRING</a:t>
            </a:r>
            <a:endParaRPr lang="en-NL"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32297304"/>
      </p:ext>
    </p:extLst>
  </p:cSld>
  <p:clrMapOvr>
    <a:masterClrMapping/>
  </p:clrMapOvr>
</p:sld>
</file>

<file path=ppt/theme/theme1.xml><?xml version="1.0" encoding="utf-8"?>
<a:theme xmlns:a="http://schemas.openxmlformats.org/drawingml/2006/main" name="Section Header">
  <a:themeElements>
    <a:clrScheme name="Custom 9">
      <a:dk1>
        <a:sysClr val="windowText" lastClr="000000"/>
      </a:dk1>
      <a:lt1>
        <a:sysClr val="window" lastClr="FFFFFF"/>
      </a:lt1>
      <a:dk2>
        <a:srgbClr val="3C495B"/>
      </a:dk2>
      <a:lt2>
        <a:srgbClr val="BCA180"/>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ection Master">
  <a:themeElements>
    <a:clrScheme name="Custom 9">
      <a:dk1>
        <a:sysClr val="windowText" lastClr="000000"/>
      </a:dk1>
      <a:lt1>
        <a:sysClr val="window" lastClr="FFFFFF"/>
      </a:lt1>
      <a:dk2>
        <a:srgbClr val="3C495B"/>
      </a:dk2>
      <a:lt2>
        <a:srgbClr val="BCA180"/>
      </a:lt2>
      <a:accent1>
        <a:srgbClr val="DA521F"/>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20634</TotalTime>
  <Words>1144</Words>
  <Application>Microsoft Office PowerPoint</Application>
  <PresentationFormat>Widescreen</PresentationFormat>
  <Paragraphs>107</Paragraphs>
  <Slides>8</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SimSun</vt:lpstr>
      <vt:lpstr>Aptos</vt:lpstr>
      <vt:lpstr>Arial</vt:lpstr>
      <vt:lpstr>Calibri</vt:lpstr>
      <vt:lpstr>Calibri Light</vt:lpstr>
      <vt:lpstr>Cambria Math</vt:lpstr>
      <vt:lpstr>Section Header</vt:lpstr>
      <vt:lpstr>Section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Dora Schuller</dc:creator>
  <cp:lastModifiedBy>Dora Schuller</cp:lastModifiedBy>
  <cp:revision>172</cp:revision>
  <dcterms:created xsi:type="dcterms:W3CDTF">2025-06-16T07:49:52Z</dcterms:created>
  <dcterms:modified xsi:type="dcterms:W3CDTF">2026-03-10T15:51:45Z</dcterms:modified>
</cp:coreProperties>
</file>