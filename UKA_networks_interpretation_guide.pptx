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  <p:sldMasterId id="2147483652" r:id="rId2"/>
  </p:sldMasterIdLst>
  <p:notesMasterIdLst>
    <p:notesMasterId r:id="rId10"/>
  </p:notesMasterIdLst>
  <p:sldIdLst>
    <p:sldId id="338" r:id="rId3"/>
    <p:sldId id="334" r:id="rId4"/>
    <p:sldId id="336" r:id="rId5"/>
    <p:sldId id="335" r:id="rId6"/>
    <p:sldId id="337" r:id="rId7"/>
    <p:sldId id="305" r:id="rId8"/>
    <p:sldId id="333" r:id="rId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EC45B4-B961-4AAD-9397-45B13DCB17CE}">
          <p14:sldIdLst>
            <p14:sldId id="338"/>
            <p14:sldId id="334"/>
            <p14:sldId id="336"/>
            <p14:sldId id="335"/>
            <p14:sldId id="337"/>
            <p14:sldId id="305"/>
            <p14:sldId id="33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82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941" autoAdjust="0"/>
  </p:normalViewPr>
  <p:slideViewPr>
    <p:cSldViewPr snapToGrid="0">
      <p:cViewPr varScale="1">
        <p:scale>
          <a:sx n="73" d="100"/>
          <a:sy n="73" d="100"/>
        </p:scale>
        <p:origin x="97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EF12A7-50D3-4D43-91D9-48F476D9C378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B196FA-3089-4310-9B6A-ED41257F64AC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2380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NL" sz="1200" dirty="0">
                <a:latin typeface="Aptos" panose="020B0004020202020204" pitchFamily="34" charset="0"/>
              </a:rPr>
              <a:t>Networks are generated using the Prize-Collecting Steiner Forest (PCSF) algorithm with the STRING database as reference network. STRING contains weighted edges based on interaction evidence (weak evidence: higher cost of edge). </a:t>
            </a:r>
            <a:endParaRPr lang="hu-HU" sz="12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hu-HU" sz="1200" dirty="0">
                <a:latin typeface="Aptos" panose="020B0004020202020204" pitchFamily="34" charset="0"/>
              </a:rPr>
              <a:t>The algorithm</a:t>
            </a:r>
            <a:r>
              <a:rPr lang="en-NL" sz="1200" dirty="0">
                <a:latin typeface="Aptos" panose="020B0004020202020204" pitchFamily="34" charset="0"/>
              </a:rPr>
              <a:t>, given the reference network and input nodes, constructs an optimal subnetwork. This is done by balancing node inclusion and edge costs. Node inclusion is decided using </a:t>
            </a:r>
            <a:r>
              <a:rPr lang="hu-HU" sz="1200" dirty="0">
                <a:latin typeface="Aptos" panose="020B0004020202020204" pitchFamily="34" charset="0"/>
              </a:rPr>
              <a:t>the absolute fold change (</a:t>
            </a:r>
            <a:r>
              <a:rPr lang="en-NL" sz="1200" dirty="0">
                <a:latin typeface="Aptos" panose="020B0004020202020204" pitchFamily="34" charset="0"/>
              </a:rPr>
              <a:t>“prize”</a:t>
            </a:r>
            <a:r>
              <a:rPr lang="hu-HU" sz="1200" dirty="0">
                <a:latin typeface="Aptos" panose="020B0004020202020204" pitchFamily="34" charset="0"/>
              </a:rPr>
              <a:t>: </a:t>
            </a:r>
            <a:r>
              <a:rPr lang="en-NL" sz="1200" dirty="0">
                <a:latin typeface="Aptos" panose="020B0004020202020204" pitchFamily="34" charset="0"/>
              </a:rPr>
              <a:t>higher abs fold change</a:t>
            </a:r>
            <a:r>
              <a:rPr lang="hu-HU" sz="1200" dirty="0">
                <a:latin typeface="Aptos" panose="020B0004020202020204" pitchFamily="34" charset="0"/>
              </a:rPr>
              <a:t> =</a:t>
            </a:r>
            <a:r>
              <a:rPr lang="en-NL" sz="1200" dirty="0">
                <a:latin typeface="Aptos" panose="020B0004020202020204" pitchFamily="34" charset="0"/>
              </a:rPr>
              <a:t> more important node). </a:t>
            </a:r>
            <a:r>
              <a:rPr lang="en-NL" sz="1200" b="1" dirty="0">
                <a:latin typeface="Aptos" panose="020B0004020202020204" pitchFamily="34" charset="0"/>
              </a:rPr>
              <a:t>The resulting network connects key kinases through high-confidence links and may add high confidence connector nodes</a:t>
            </a:r>
            <a:r>
              <a:rPr lang="en-NL" sz="1200" dirty="0">
                <a:latin typeface="Aptos" panose="020B0004020202020204" pitchFamily="34" charset="0"/>
              </a:rPr>
              <a:t> which are not in the data (“</a:t>
            </a:r>
            <a:r>
              <a:rPr lang="hu-HU" sz="1200" dirty="0">
                <a:latin typeface="Aptos" panose="020B0004020202020204" pitchFamily="34" charset="0"/>
              </a:rPr>
              <a:t>Steiner” or „</a:t>
            </a:r>
            <a:r>
              <a:rPr lang="en-NL" sz="1200" dirty="0">
                <a:latin typeface="Aptos" panose="020B0004020202020204" pitchFamily="34" charset="0"/>
              </a:rPr>
              <a:t>Hidden” nodes). </a:t>
            </a:r>
            <a:endParaRPr lang="hu-HU" sz="12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NL" sz="1200" b="1" dirty="0">
                <a:latin typeface="Aptos" panose="020B0004020202020204" pitchFamily="34" charset="0"/>
              </a:rPr>
              <a:t>This approach enhances robustness by pruning weakly connected or low-fold-change nodes (probably false positives) </a:t>
            </a:r>
            <a:r>
              <a:rPr lang="en-NL" sz="1200" dirty="0">
                <a:latin typeface="Aptos" panose="020B0004020202020204" pitchFamily="34" charset="0"/>
              </a:rPr>
              <a:t>and recovering missing connections through hidden nodes (probably false negatives).</a:t>
            </a:r>
          </a:p>
          <a:p>
            <a:pPr>
              <a:buNone/>
            </a:pPr>
            <a:r>
              <a:rPr lang="hu-HU" sz="1400" dirty="0">
                <a:effectLst/>
                <a:latin typeface="Aptos" panose="020B0004020202020204" pitchFamily="34" charset="0"/>
                <a:ea typeface="SimSun" panose="02010600030101010101" pitchFamily="2" charset="-122"/>
                <a:cs typeface="Aptos" panose="020B0004020202020204" pitchFamily="34" charset="0"/>
              </a:rPr>
              <a:t> </a:t>
            </a:r>
            <a:endParaRPr lang="en-NL" sz="1600" dirty="0">
              <a:effectLst/>
              <a:latin typeface="SimSun" panose="02010600030101010101" pitchFamily="2" charset="-122"/>
              <a:ea typeface="SimSun" panose="02010600030101010101" pitchFamily="2" charset="-122"/>
              <a:cs typeface="Aptos" panose="020B0004020202020204" pitchFamily="34" charset="0"/>
            </a:endParaRPr>
          </a:p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B196FA-3089-4310-9B6A-ED41257F64AC}" type="slidenum">
              <a:rPr lang="en-NL" smtClean="0"/>
              <a:t>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82955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982766" y="3709949"/>
            <a:ext cx="10154450" cy="50384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2799" baseline="0">
                <a:solidFill>
                  <a:schemeClr val="tx2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GB" dirty="0"/>
              <a:t>Section Sub Title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2" hasCustomPrompt="1"/>
          </p:nvPr>
        </p:nvSpPr>
        <p:spPr>
          <a:xfrm>
            <a:off x="982766" y="2637096"/>
            <a:ext cx="10154972" cy="7199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4799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sz="4799" dirty="0"/>
              <a:t>Section Title</a:t>
            </a:r>
            <a:endParaRPr lang="en-GB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65123D-9BAF-4F91-B1C1-CB5F15FCB522}"/>
              </a:ext>
            </a:extLst>
          </p:cNvPr>
          <p:cNvSpPr/>
          <p:nvPr userDrawn="1"/>
        </p:nvSpPr>
        <p:spPr>
          <a:xfrm>
            <a:off x="1001819" y="3277860"/>
            <a:ext cx="1841765" cy="63277"/>
          </a:xfrm>
          <a:prstGeom prst="roundRect">
            <a:avLst/>
          </a:prstGeom>
          <a:solidFill>
            <a:srgbClr val="EC891F"/>
          </a:solidFill>
          <a:ln>
            <a:solidFill>
              <a:srgbClr val="EC89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317162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PG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8FD76D93-597D-4051-9F91-CAD419F7137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75628" y="6564380"/>
            <a:ext cx="3003013" cy="26822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600" baseline="0">
                <a:solidFill>
                  <a:schemeClr val="tx2">
                    <a:lumMod val="40000"/>
                    <a:lumOff val="60000"/>
                  </a:schemeClr>
                </a:solidFill>
              </a:defRPr>
            </a:lvl1pPr>
          </a:lstStyle>
          <a:p>
            <a:pPr lvl="0"/>
            <a:r>
              <a:rPr lang="en-GB" dirty="0"/>
              <a:t>Section Sub Title</a:t>
            </a:r>
          </a:p>
        </p:txBody>
      </p:sp>
      <p:sp>
        <p:nvSpPr>
          <p:cNvPr id="5" name="Content Placeholder 10">
            <a:extLst>
              <a:ext uri="{FF2B5EF4-FFF2-40B4-BE49-F238E27FC236}">
                <a16:creationId xmlns:a16="http://schemas.microsoft.com/office/drawing/2014/main" id="{1EA9FB1D-F774-4B55-A94F-5EFD97DFF31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24125" y="-26140"/>
            <a:ext cx="4785166" cy="63644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4799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Section Title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54F421-BD68-4AA9-940A-3257B8C13929}"/>
              </a:ext>
            </a:extLst>
          </p:cNvPr>
          <p:cNvSpPr/>
          <p:nvPr userDrawn="1"/>
        </p:nvSpPr>
        <p:spPr>
          <a:xfrm>
            <a:off x="540796" y="609609"/>
            <a:ext cx="1841765" cy="63277"/>
          </a:xfrm>
          <a:prstGeom prst="roundRect">
            <a:avLst/>
          </a:prstGeom>
          <a:solidFill>
            <a:srgbClr val="EC891F"/>
          </a:solidFill>
          <a:ln>
            <a:solidFill>
              <a:srgbClr val="EC89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3828641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00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7006" y="5156792"/>
            <a:ext cx="2570183" cy="1358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755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1" y="0"/>
            <a:ext cx="12192000" cy="79494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00" dirty="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9080"/>
          <a:stretch/>
        </p:blipFill>
        <p:spPr>
          <a:xfrm>
            <a:off x="9984938" y="117399"/>
            <a:ext cx="1682937" cy="67754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7042" y="300926"/>
            <a:ext cx="936226" cy="370823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1" y="6557075"/>
            <a:ext cx="12192000" cy="31559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00" dirty="0"/>
          </a:p>
        </p:txBody>
      </p:sp>
    </p:spTree>
    <p:extLst>
      <p:ext uri="{BB962C8B-B14F-4D97-AF65-F5344CB8AC3E}">
        <p14:creationId xmlns:p14="http://schemas.microsoft.com/office/powerpoint/2010/main" val="2556188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reactome.org/PathwayBrowser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ontiersin.org/journals/molecular-biosciences/articles/10.3389/fmolb.2021.666705/ful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journals.plos.org/ploscompbiol/article/file?id=10.1371/journal.pcbi.1005694&amp;type=printable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1305FE-BF66-51D9-C6B6-32E9C28493A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hu-HU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Interpretation guide</a:t>
            </a:r>
            <a:endParaRPr lang="en-NL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1749E-C1E1-27B1-AB63-4AD5E4D0B3F6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hu-HU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Kinase networks</a:t>
            </a:r>
            <a:endParaRPr lang="en-NL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153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CDC345-0430-2BA9-DDFB-6420E9FB55F7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A6310-287E-D3A9-B840-4EF3CA41EFBA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24123" y="0"/>
            <a:ext cx="7851391" cy="636442"/>
          </a:xfrm>
        </p:spPr>
        <p:txBody>
          <a:bodyPr/>
          <a:lstStyle/>
          <a:p>
            <a:r>
              <a:rPr lang="hu-HU" sz="36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Quick start</a:t>
            </a:r>
            <a:endParaRPr lang="en-NL" sz="3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8020C5-512A-D995-5F95-924887355AB1}"/>
              </a:ext>
            </a:extLst>
          </p:cNvPr>
          <p:cNvSpPr txBox="1"/>
          <p:nvPr/>
        </p:nvSpPr>
        <p:spPr>
          <a:xfrm>
            <a:off x="524124" y="1251361"/>
            <a:ext cx="10857237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0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 generation</a:t>
            </a:r>
            <a:r>
              <a:rPr lang="hu-HU" sz="20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Networks are generated from high </a:t>
            </a:r>
            <a:r>
              <a:rPr lang="hu-HU" sz="20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scoring* kinases. N</a:t>
            </a:r>
            <a:r>
              <a:rPr lang="en-NL" sz="2000" dirty="0" err="1">
                <a:latin typeface="Aptos" panose="020B0004020202020204" pitchFamily="34" charset="0"/>
              </a:rPr>
              <a:t>etwork</a:t>
            </a:r>
            <a:r>
              <a:rPr lang="hu-HU" sz="2000" dirty="0">
                <a:latin typeface="Aptos" panose="020B0004020202020204" pitchFamily="34" charset="0"/>
              </a:rPr>
              <a:t>s</a:t>
            </a:r>
            <a:r>
              <a:rPr lang="en-NL" sz="2000" dirty="0">
                <a:latin typeface="Aptos" panose="020B0004020202020204" pitchFamily="34" charset="0"/>
              </a:rPr>
              <a:t> connect key kinases through high-confidence links and may </a:t>
            </a:r>
            <a:r>
              <a:rPr lang="hu-HU" sz="2000" dirty="0">
                <a:latin typeface="Aptos" panose="020B0004020202020204" pitchFamily="34" charset="0"/>
              </a:rPr>
              <a:t>include </a:t>
            </a:r>
            <a:r>
              <a:rPr lang="en-NL" sz="2000" dirty="0">
                <a:latin typeface="Aptos" panose="020B0004020202020204" pitchFamily="34" charset="0"/>
              </a:rPr>
              <a:t>high confidence connector nodes which are not in the data</a:t>
            </a:r>
            <a:r>
              <a:rPr lang="hu-HU" sz="2000" dirty="0">
                <a:latin typeface="Aptos" panose="020B0004020202020204" pitchFamily="34" charset="0"/>
              </a:rPr>
              <a:t>.</a:t>
            </a:r>
            <a:endParaRPr lang="hu-HU" sz="20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20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Pathway annotation is done by EnrichR, using the </a:t>
            </a:r>
            <a:r>
              <a:rPr lang="hu-HU" sz="20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2"/>
              </a:rPr>
              <a:t>Reactome</a:t>
            </a:r>
            <a:r>
              <a:rPr lang="hu-HU" sz="20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db, for each node cluster in the network. </a:t>
            </a:r>
            <a:endParaRPr lang="en-NL" sz="20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lvl="0"/>
            <a:endParaRPr lang="hu-HU" sz="20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lvl="0"/>
            <a:r>
              <a:rPr lang="hu-HU" sz="20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Most important network files</a:t>
            </a: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hu-HU" sz="20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 html: </a:t>
            </a:r>
            <a:r>
              <a:rPr lang="hu-HU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 interactive network figure which shows the Kinase Statistic of nodes (red: high, green: low) and the pathways. Nodes and pathways are searchable.</a:t>
            </a: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hu-HU" sz="20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Enrich_results: pathways of the network </a:t>
            </a:r>
            <a:r>
              <a:rPr lang="hu-HU" sz="20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– </a:t>
            </a:r>
            <a:r>
              <a:rPr lang="hu-HU" sz="20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see next slide</a:t>
            </a:r>
            <a:endParaRPr lang="hu-HU" sz="2000" b="1" dirty="0">
              <a:solidFill>
                <a:srgbClr val="00B050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hu-HU" sz="20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*Params.csv</a:t>
            </a:r>
            <a:r>
              <a:rPr lang="hu-HU" sz="20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shows how the data was pre-filtered. fscore_cutoff is the threshold for specificity score. perc_cutoffs are the threshold(s) for percentile, which is usually 0.01 (shown at the end of the filename as _p01) so everything is used above the specificity cutoff.</a:t>
            </a:r>
            <a:endParaRPr lang="en-NL" sz="20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369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F90DD7E-E6F2-C4BE-2559-003CEC21E89C}"/>
              </a:ext>
            </a:extLst>
          </p:cNvPr>
          <p:cNvCxnSpPr>
            <a:cxnSpLocks/>
            <a:stCxn id="74" idx="7"/>
            <a:endCxn id="17" idx="2"/>
          </p:cNvCxnSpPr>
          <p:nvPr/>
        </p:nvCxnSpPr>
        <p:spPr>
          <a:xfrm flipV="1">
            <a:off x="1610048" y="1892091"/>
            <a:ext cx="682314" cy="2700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4446-5818-BC6E-C6F6-697D2EE6723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97071" y="-3371"/>
            <a:ext cx="8979104" cy="636442"/>
          </a:xfrm>
        </p:spPr>
        <p:txBody>
          <a:bodyPr/>
          <a:lstStyle/>
          <a:p>
            <a:r>
              <a:rPr lang="hu-HU" sz="3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Network generation enhances UKA results</a:t>
            </a:r>
            <a:endParaRPr lang="en-NL" sz="3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814943-524D-D337-55B9-C449DFD0EF6C}"/>
              </a:ext>
            </a:extLst>
          </p:cNvPr>
          <p:cNvSpPr/>
          <p:nvPr/>
        </p:nvSpPr>
        <p:spPr>
          <a:xfrm>
            <a:off x="375628" y="1031191"/>
            <a:ext cx="3359793" cy="69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1600" b="1" dirty="0">
                <a:solidFill>
                  <a:schemeClr val="tx1"/>
                </a:solidFill>
                <a:latin typeface="Aptos" panose="020B0004020202020204" pitchFamily="34" charset="0"/>
              </a:rPr>
              <a:t>INPUTS</a:t>
            </a:r>
            <a:r>
              <a:rPr lang="hu-HU" sz="1600" dirty="0">
                <a:solidFill>
                  <a:schemeClr val="tx1"/>
                </a:solidFill>
                <a:latin typeface="Aptos" panose="020B0004020202020204" pitchFamily="34" charset="0"/>
              </a:rPr>
              <a:t>: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tx1"/>
                </a:solidFill>
                <a:latin typeface="Aptos" panose="020B0004020202020204" pitchFamily="34" charset="0"/>
              </a:rPr>
              <a:t>STRING as reference network;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hu-HU" sz="1600" dirty="0">
                <a:solidFill>
                  <a:schemeClr val="tx1"/>
                </a:solidFill>
                <a:latin typeface="Aptos" panose="020B0004020202020204" pitchFamily="34" charset="0"/>
              </a:rPr>
              <a:t>selected nodes</a:t>
            </a:r>
            <a:endParaRPr lang="en-NL" sz="16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70" name="Content Placeholder 69">
            <a:extLst>
              <a:ext uri="{FF2B5EF4-FFF2-40B4-BE49-F238E27FC236}">
                <a16:creationId xmlns:a16="http://schemas.microsoft.com/office/drawing/2014/main" id="{2EF0A68D-B0CC-A05B-6148-3BB5CAE323F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7E4F80E-AFE6-ECCA-99B7-04569F063904}"/>
              </a:ext>
            </a:extLst>
          </p:cNvPr>
          <p:cNvSpPr txBox="1"/>
          <p:nvPr/>
        </p:nvSpPr>
        <p:spPr>
          <a:xfrm rot="16200000">
            <a:off x="-840838" y="4093736"/>
            <a:ext cx="24142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050" dirty="0">
                <a:latin typeface="Aptos" panose="020B0004020202020204" pitchFamily="34" charset="0"/>
              </a:rPr>
              <a:t>Based on </a:t>
            </a:r>
            <a:r>
              <a:rPr lang="hu-HU" sz="1050" dirty="0">
                <a:latin typeface="Aptos" panose="020B0004020202020204" pitchFamily="34" charset="0"/>
                <a:hlinkClick r:id="rId3"/>
              </a:rPr>
              <a:t>(Arici &amp; Tuncbag, 2021)</a:t>
            </a:r>
            <a:endParaRPr lang="hu-HU" sz="1050" dirty="0">
              <a:latin typeface="Aptos" panose="020B0004020202020204" pitchFamily="34" charset="0"/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F8296A3E-472A-1BDF-9474-E96FE771D8BF}"/>
              </a:ext>
            </a:extLst>
          </p:cNvPr>
          <p:cNvSpPr/>
          <p:nvPr/>
        </p:nvSpPr>
        <p:spPr>
          <a:xfrm>
            <a:off x="1255103" y="2100718"/>
            <a:ext cx="415844" cy="41922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261E656-5475-4362-CD39-E755E22A75D4}"/>
              </a:ext>
            </a:extLst>
          </p:cNvPr>
          <p:cNvSpPr/>
          <p:nvPr/>
        </p:nvSpPr>
        <p:spPr>
          <a:xfrm>
            <a:off x="1688004" y="2631783"/>
            <a:ext cx="295275" cy="29457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  <a:latin typeface="Aptos" panose="020B0004020202020204" pitchFamily="34" charset="0"/>
              </a:rPr>
              <a:t>5</a:t>
            </a:r>
            <a:endParaRPr lang="en-NL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DDC67CC8-7F04-609B-892E-3E12963C1076}"/>
              </a:ext>
            </a:extLst>
          </p:cNvPr>
          <p:cNvSpPr/>
          <p:nvPr/>
        </p:nvSpPr>
        <p:spPr>
          <a:xfrm>
            <a:off x="2250937" y="2554507"/>
            <a:ext cx="295275" cy="294572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6F8F140-0E6A-C59D-FA42-5BB7B67BEBD8}"/>
              </a:ext>
            </a:extLst>
          </p:cNvPr>
          <p:cNvSpPr/>
          <p:nvPr/>
        </p:nvSpPr>
        <p:spPr>
          <a:xfrm>
            <a:off x="1863258" y="1971342"/>
            <a:ext cx="295275" cy="29457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  <a:latin typeface="Aptos" panose="020B0004020202020204" pitchFamily="34" charset="0"/>
              </a:rPr>
              <a:t>6</a:t>
            </a:r>
            <a:endParaRPr lang="en-NL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6B168850-DC5B-2DE3-83D5-B1659407D810}"/>
              </a:ext>
            </a:extLst>
          </p:cNvPr>
          <p:cNvSpPr/>
          <p:nvPr/>
        </p:nvSpPr>
        <p:spPr>
          <a:xfrm>
            <a:off x="2158533" y="3065621"/>
            <a:ext cx="267659" cy="27213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22910115-32F5-1B67-BF1D-B6AE92747909}"/>
              </a:ext>
            </a:extLst>
          </p:cNvPr>
          <p:cNvSpPr/>
          <p:nvPr/>
        </p:nvSpPr>
        <p:spPr>
          <a:xfrm>
            <a:off x="1161440" y="2891452"/>
            <a:ext cx="295275" cy="29457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  <a:latin typeface="Aptos" panose="020B0004020202020204" pitchFamily="34" charset="0"/>
              </a:rPr>
              <a:t>4</a:t>
            </a:r>
            <a:endParaRPr lang="en-NL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C7B39436-EFFA-A7A4-2C1B-5DC6A9263681}"/>
              </a:ext>
            </a:extLst>
          </p:cNvPr>
          <p:cNvSpPr/>
          <p:nvPr/>
        </p:nvSpPr>
        <p:spPr>
          <a:xfrm>
            <a:off x="1604353" y="3108519"/>
            <a:ext cx="295275" cy="29457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  <a:latin typeface="Aptos" panose="020B0004020202020204" pitchFamily="34" charset="0"/>
              </a:rPr>
              <a:t>3</a:t>
            </a:r>
            <a:endParaRPr lang="en-NL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3E56368-811D-0A54-3110-38065E9F21C5}"/>
              </a:ext>
            </a:extLst>
          </p:cNvPr>
          <p:cNvSpPr/>
          <p:nvPr/>
        </p:nvSpPr>
        <p:spPr>
          <a:xfrm>
            <a:off x="1523309" y="3650518"/>
            <a:ext cx="295275" cy="29457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  <a:latin typeface="Aptos" panose="020B0004020202020204" pitchFamily="34" charset="0"/>
              </a:rPr>
              <a:t>1</a:t>
            </a:r>
            <a:endParaRPr lang="en-NL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A1A31EE-ACA8-8940-1012-6586BB2F7649}"/>
              </a:ext>
            </a:extLst>
          </p:cNvPr>
          <p:cNvSpPr/>
          <p:nvPr/>
        </p:nvSpPr>
        <p:spPr>
          <a:xfrm>
            <a:off x="2113859" y="3704835"/>
            <a:ext cx="295275" cy="29457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  <a:latin typeface="Aptos" panose="020B0004020202020204" pitchFamily="34" charset="0"/>
              </a:rPr>
              <a:t>2</a:t>
            </a:r>
            <a:endParaRPr lang="en-NL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2693179-0BF0-FCE0-B752-F38BDC4AD721}"/>
              </a:ext>
            </a:extLst>
          </p:cNvPr>
          <p:cNvCxnSpPr>
            <a:stCxn id="81" idx="6"/>
            <a:endCxn id="82" idx="2"/>
          </p:cNvCxnSpPr>
          <p:nvPr/>
        </p:nvCxnSpPr>
        <p:spPr>
          <a:xfrm>
            <a:off x="1818584" y="3797804"/>
            <a:ext cx="295275" cy="54317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88DF99A-6B88-25C3-D35C-5F0A699F227B}"/>
              </a:ext>
            </a:extLst>
          </p:cNvPr>
          <p:cNvCxnSpPr>
            <a:cxnSpLocks/>
            <a:stCxn id="81" idx="0"/>
            <a:endCxn id="80" idx="4"/>
          </p:cNvCxnSpPr>
          <p:nvPr/>
        </p:nvCxnSpPr>
        <p:spPr>
          <a:xfrm flipV="1">
            <a:off x="1670947" y="3403091"/>
            <a:ext cx="81044" cy="247427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76EB81B-BB97-135A-CCF3-57C0E26CC28A}"/>
              </a:ext>
            </a:extLst>
          </p:cNvPr>
          <p:cNvCxnSpPr>
            <a:cxnSpLocks/>
            <a:stCxn id="82" idx="0"/>
            <a:endCxn id="78" idx="4"/>
          </p:cNvCxnSpPr>
          <p:nvPr/>
        </p:nvCxnSpPr>
        <p:spPr>
          <a:xfrm flipV="1">
            <a:off x="2261497" y="3337756"/>
            <a:ext cx="30866" cy="367079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8BE7A6A-2562-1520-F604-C5D2747D2673}"/>
              </a:ext>
            </a:extLst>
          </p:cNvPr>
          <p:cNvCxnSpPr>
            <a:cxnSpLocks/>
            <a:stCxn id="78" idx="2"/>
            <a:endCxn id="80" idx="6"/>
          </p:cNvCxnSpPr>
          <p:nvPr/>
        </p:nvCxnSpPr>
        <p:spPr>
          <a:xfrm flipH="1">
            <a:off x="1899628" y="3201689"/>
            <a:ext cx="258905" cy="54116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AFDE1B7C-E27C-EE75-A6D3-7BE49031014B}"/>
              </a:ext>
            </a:extLst>
          </p:cNvPr>
          <p:cNvCxnSpPr>
            <a:cxnSpLocks/>
            <a:stCxn id="76" idx="4"/>
            <a:endCxn id="78" idx="0"/>
          </p:cNvCxnSpPr>
          <p:nvPr/>
        </p:nvCxnSpPr>
        <p:spPr>
          <a:xfrm flipH="1">
            <a:off x="2292363" y="2849079"/>
            <a:ext cx="106212" cy="216542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E66280C4-D577-A89B-0DD5-66F6E89B0169}"/>
              </a:ext>
            </a:extLst>
          </p:cNvPr>
          <p:cNvCxnSpPr>
            <a:cxnSpLocks/>
            <a:stCxn id="75" idx="6"/>
            <a:endCxn id="76" idx="2"/>
          </p:cNvCxnSpPr>
          <p:nvPr/>
        </p:nvCxnSpPr>
        <p:spPr>
          <a:xfrm flipV="1">
            <a:off x="1983279" y="2701793"/>
            <a:ext cx="267658" cy="77276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89BDF1EE-0B7A-0F6E-2096-0D823F52CEE9}"/>
              </a:ext>
            </a:extLst>
          </p:cNvPr>
          <p:cNvCxnSpPr>
            <a:cxnSpLocks/>
            <a:stCxn id="75" idx="4"/>
            <a:endCxn id="80" idx="0"/>
          </p:cNvCxnSpPr>
          <p:nvPr/>
        </p:nvCxnSpPr>
        <p:spPr>
          <a:xfrm flipH="1">
            <a:off x="1751991" y="2926355"/>
            <a:ext cx="83651" cy="182164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3EB9D98-D8F1-9BE1-8BF2-477A76CE382C}"/>
              </a:ext>
            </a:extLst>
          </p:cNvPr>
          <p:cNvCxnSpPr>
            <a:cxnSpLocks/>
            <a:stCxn id="80" idx="2"/>
            <a:endCxn id="79" idx="5"/>
          </p:cNvCxnSpPr>
          <p:nvPr/>
        </p:nvCxnSpPr>
        <p:spPr>
          <a:xfrm flipH="1" flipV="1">
            <a:off x="1413473" y="3142885"/>
            <a:ext cx="190880" cy="11292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B5EA3942-4C34-74AF-0AB7-F83D50F42BDC}"/>
              </a:ext>
            </a:extLst>
          </p:cNvPr>
          <p:cNvCxnSpPr>
            <a:cxnSpLocks/>
            <a:stCxn id="74" idx="4"/>
            <a:endCxn id="79" idx="0"/>
          </p:cNvCxnSpPr>
          <p:nvPr/>
        </p:nvCxnSpPr>
        <p:spPr>
          <a:xfrm flipH="1">
            <a:off x="1309078" y="2519941"/>
            <a:ext cx="153947" cy="37151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8335E4E0-0877-7B32-F3B5-13C85F3CB62D}"/>
              </a:ext>
            </a:extLst>
          </p:cNvPr>
          <p:cNvCxnSpPr>
            <a:cxnSpLocks/>
            <a:stCxn id="74" idx="7"/>
            <a:endCxn id="77" idx="2"/>
          </p:cNvCxnSpPr>
          <p:nvPr/>
        </p:nvCxnSpPr>
        <p:spPr>
          <a:xfrm flipV="1">
            <a:off x="1610048" y="2118628"/>
            <a:ext cx="253210" cy="43484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E38DFEA0-C180-46EB-FC72-718929F4559E}"/>
              </a:ext>
            </a:extLst>
          </p:cNvPr>
          <p:cNvCxnSpPr>
            <a:cxnSpLocks/>
            <a:stCxn id="76" idx="0"/>
            <a:endCxn id="77" idx="5"/>
          </p:cNvCxnSpPr>
          <p:nvPr/>
        </p:nvCxnSpPr>
        <p:spPr>
          <a:xfrm flipH="1" flipV="1">
            <a:off x="2115291" y="2222775"/>
            <a:ext cx="283284" cy="331732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7" name="Straight Connector 1026">
            <a:extLst>
              <a:ext uri="{FF2B5EF4-FFF2-40B4-BE49-F238E27FC236}">
                <a16:creationId xmlns:a16="http://schemas.microsoft.com/office/drawing/2014/main" id="{6B9E64B7-9B5C-617B-735D-982AE345A325}"/>
              </a:ext>
            </a:extLst>
          </p:cNvPr>
          <p:cNvCxnSpPr>
            <a:cxnSpLocks/>
            <a:stCxn id="74" idx="5"/>
            <a:endCxn id="75" idx="1"/>
          </p:cNvCxnSpPr>
          <p:nvPr/>
        </p:nvCxnSpPr>
        <p:spPr>
          <a:xfrm>
            <a:off x="1610048" y="2458547"/>
            <a:ext cx="121198" cy="216375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3" name="Oval 1072">
            <a:extLst>
              <a:ext uri="{FF2B5EF4-FFF2-40B4-BE49-F238E27FC236}">
                <a16:creationId xmlns:a16="http://schemas.microsoft.com/office/drawing/2014/main" id="{E5C5E340-6C8E-9114-1022-4219C5C0E768}"/>
              </a:ext>
            </a:extLst>
          </p:cNvPr>
          <p:cNvSpPr/>
          <p:nvPr/>
        </p:nvSpPr>
        <p:spPr>
          <a:xfrm>
            <a:off x="1315111" y="4344657"/>
            <a:ext cx="192311" cy="192461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1074" name="Straight Connector 1073">
            <a:extLst>
              <a:ext uri="{FF2B5EF4-FFF2-40B4-BE49-F238E27FC236}">
                <a16:creationId xmlns:a16="http://schemas.microsoft.com/office/drawing/2014/main" id="{328BDA87-92A9-F4BD-5E3C-BA3E5848A9A9}"/>
              </a:ext>
            </a:extLst>
          </p:cNvPr>
          <p:cNvCxnSpPr>
            <a:cxnSpLocks/>
          </p:cNvCxnSpPr>
          <p:nvPr/>
        </p:nvCxnSpPr>
        <p:spPr>
          <a:xfrm>
            <a:off x="1296584" y="5731787"/>
            <a:ext cx="343207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Straight Connector 1074">
            <a:extLst>
              <a:ext uri="{FF2B5EF4-FFF2-40B4-BE49-F238E27FC236}">
                <a16:creationId xmlns:a16="http://schemas.microsoft.com/office/drawing/2014/main" id="{CC8B459E-CA83-FB53-BBFA-254AE0244B85}"/>
              </a:ext>
            </a:extLst>
          </p:cNvPr>
          <p:cNvCxnSpPr>
            <a:cxnSpLocks/>
          </p:cNvCxnSpPr>
          <p:nvPr/>
        </p:nvCxnSpPr>
        <p:spPr>
          <a:xfrm>
            <a:off x="1296584" y="6069008"/>
            <a:ext cx="343207" cy="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60CB0239-CB36-A9DB-B22A-F2B0B6E06904}"/>
              </a:ext>
            </a:extLst>
          </p:cNvPr>
          <p:cNvSpPr/>
          <p:nvPr/>
        </p:nvSpPr>
        <p:spPr>
          <a:xfrm>
            <a:off x="1512274" y="4459173"/>
            <a:ext cx="1934525" cy="561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600"/>
              </a:spcAft>
            </a:pPr>
            <a:r>
              <a:rPr lang="hu-HU" sz="1600" dirty="0">
                <a:solidFill>
                  <a:schemeClr val="tx1"/>
                </a:solidFill>
                <a:latin typeface="Aptos" panose="020B0004020202020204" pitchFamily="34" charset="0"/>
              </a:rPr>
              <a:t>Nodes</a:t>
            </a:r>
          </a:p>
          <a:p>
            <a:pPr>
              <a:spcAft>
                <a:spcPts val="600"/>
              </a:spcAft>
            </a:pPr>
            <a:r>
              <a:rPr lang="hu-HU" sz="1600" dirty="0">
                <a:solidFill>
                  <a:schemeClr val="tx1"/>
                </a:solidFill>
                <a:latin typeface="Aptos" panose="020B0004020202020204" pitchFamily="34" charset="0"/>
              </a:rPr>
              <a:t>Input nodes </a:t>
            </a:r>
            <a:br>
              <a:rPr lang="hu-HU" sz="1600" dirty="0">
                <a:solidFill>
                  <a:schemeClr val="tx1"/>
                </a:solidFill>
                <a:latin typeface="Aptos" panose="020B0004020202020204" pitchFamily="34" charset="0"/>
              </a:rPr>
            </a:br>
            <a:r>
              <a:rPr lang="hu-HU" sz="1600" dirty="0">
                <a:solidFill>
                  <a:schemeClr val="tx1"/>
                </a:solidFill>
                <a:latin typeface="Aptos" panose="020B0004020202020204" pitchFamily="34" charset="0"/>
              </a:rPr>
              <a:t>(size ~ LFC)</a:t>
            </a:r>
          </a:p>
        </p:txBody>
      </p:sp>
      <p:sp>
        <p:nvSpPr>
          <p:cNvPr id="1078" name="Oval 1077">
            <a:extLst>
              <a:ext uri="{FF2B5EF4-FFF2-40B4-BE49-F238E27FC236}">
                <a16:creationId xmlns:a16="http://schemas.microsoft.com/office/drawing/2014/main" id="{CAD02933-6A18-22C0-7923-29DEFFB3F410}"/>
              </a:ext>
            </a:extLst>
          </p:cNvPr>
          <p:cNvSpPr/>
          <p:nvPr/>
        </p:nvSpPr>
        <p:spPr>
          <a:xfrm>
            <a:off x="1317381" y="4714171"/>
            <a:ext cx="192311" cy="192461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81" name="Rectangle 1080">
            <a:extLst>
              <a:ext uri="{FF2B5EF4-FFF2-40B4-BE49-F238E27FC236}">
                <a16:creationId xmlns:a16="http://schemas.microsoft.com/office/drawing/2014/main" id="{862DBE81-1E03-C4D9-0E35-390FAE513DDA}"/>
              </a:ext>
            </a:extLst>
          </p:cNvPr>
          <p:cNvSpPr/>
          <p:nvPr/>
        </p:nvSpPr>
        <p:spPr>
          <a:xfrm>
            <a:off x="1639791" y="5591737"/>
            <a:ext cx="2691250" cy="561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600"/>
              </a:spcAft>
            </a:pPr>
            <a:r>
              <a:rPr lang="hu-HU" sz="1600" dirty="0">
                <a:solidFill>
                  <a:schemeClr val="tx1"/>
                </a:solidFill>
                <a:latin typeface="Aptos" panose="020B0004020202020204" pitchFamily="34" charset="0"/>
              </a:rPr>
              <a:t>High evidence edge</a:t>
            </a:r>
          </a:p>
          <a:p>
            <a:pPr>
              <a:spcAft>
                <a:spcPts val="600"/>
              </a:spcAft>
            </a:pPr>
            <a:r>
              <a:rPr lang="hu-HU" sz="1600" dirty="0">
                <a:solidFill>
                  <a:schemeClr val="tx1"/>
                </a:solidFill>
                <a:latin typeface="Aptos" panose="020B0004020202020204" pitchFamily="34" charset="0"/>
              </a:rPr>
              <a:t>Low evidence edge</a:t>
            </a:r>
            <a:endParaRPr lang="en-NL" sz="16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D3B62E7-856B-52D9-78A8-513EC00BCA9A}"/>
              </a:ext>
            </a:extLst>
          </p:cNvPr>
          <p:cNvSpPr/>
          <p:nvPr/>
        </p:nvSpPr>
        <p:spPr>
          <a:xfrm>
            <a:off x="1116144" y="3628783"/>
            <a:ext cx="168507" cy="169021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20A02E6-FE78-955D-42B5-E15E7C79D6D6}"/>
              </a:ext>
            </a:extLst>
          </p:cNvPr>
          <p:cNvCxnSpPr>
            <a:cxnSpLocks/>
            <a:stCxn id="20" idx="6"/>
            <a:endCxn id="81" idx="2"/>
          </p:cNvCxnSpPr>
          <p:nvPr/>
        </p:nvCxnSpPr>
        <p:spPr>
          <a:xfrm>
            <a:off x="1284651" y="3713294"/>
            <a:ext cx="238658" cy="8451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1328D47-92DE-B9DB-F248-913F3FC3EF08}"/>
              </a:ext>
            </a:extLst>
          </p:cNvPr>
          <p:cNvGrpSpPr/>
          <p:nvPr/>
        </p:nvGrpSpPr>
        <p:grpSpPr>
          <a:xfrm>
            <a:off x="2762593" y="1050302"/>
            <a:ext cx="9293220" cy="5335450"/>
            <a:chOff x="2762593" y="1050302"/>
            <a:chExt cx="9293220" cy="5335450"/>
          </a:xfrm>
        </p:grpSpPr>
        <p:sp>
          <p:nvSpPr>
            <p:cNvPr id="1079" name="Oval 1078">
              <a:extLst>
                <a:ext uri="{FF2B5EF4-FFF2-40B4-BE49-F238E27FC236}">
                  <a16:creationId xmlns:a16="http://schemas.microsoft.com/office/drawing/2014/main" id="{8B21FFDE-4D1D-DC19-37E1-FAA5347846A1}"/>
                </a:ext>
              </a:extLst>
            </p:cNvPr>
            <p:cNvSpPr/>
            <p:nvPr/>
          </p:nvSpPr>
          <p:spPr>
            <a:xfrm>
              <a:off x="4024197" y="5196302"/>
              <a:ext cx="192311" cy="192461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B5B65C2-3C29-6A63-5358-B7AA47590211}"/>
                </a:ext>
              </a:extLst>
            </p:cNvPr>
            <p:cNvGrpSpPr/>
            <p:nvPr/>
          </p:nvGrpSpPr>
          <p:grpSpPr>
            <a:xfrm>
              <a:off x="2762593" y="1050302"/>
              <a:ext cx="9293220" cy="5335450"/>
              <a:chOff x="2762593" y="1050302"/>
              <a:chExt cx="9293220" cy="5335450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9FA291-D942-CA8E-2AC3-B1851F0FF44B}"/>
                  </a:ext>
                </a:extLst>
              </p:cNvPr>
              <p:cNvSpPr txBox="1"/>
              <p:nvPr/>
            </p:nvSpPr>
            <p:spPr>
              <a:xfrm>
                <a:off x="6223912" y="5431645"/>
                <a:ext cx="5831901" cy="95410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hu-HU" sz="1400" dirty="0">
                    <a:latin typeface="Aptos" panose="020B0004020202020204" pitchFamily="34" charset="0"/>
                  </a:rPr>
                  <a:t>T</a:t>
                </a:r>
                <a:r>
                  <a:rPr lang="en-NL" sz="1400" dirty="0">
                    <a:latin typeface="Aptos" panose="020B0004020202020204" pitchFamily="34" charset="0"/>
                  </a:rPr>
                  <a:t>he Prize-Collecting Steiner Forest (PCSF) algorithm</a:t>
                </a:r>
                <a:r>
                  <a:rPr lang="hu-HU" sz="1400" dirty="0">
                    <a:latin typeface="Aptos" panose="020B0004020202020204" pitchFamily="34" charset="0"/>
                  </a:rPr>
                  <a:t>, </a:t>
                </a:r>
                <a:r>
                  <a:rPr lang="en-NL" sz="1400" dirty="0">
                    <a:latin typeface="Aptos" panose="020B0004020202020204" pitchFamily="34" charset="0"/>
                  </a:rPr>
                  <a:t>given the reference network and input nodes, constructs </a:t>
                </a:r>
                <a:r>
                  <a:rPr lang="hu-HU" sz="1400" dirty="0">
                    <a:latin typeface="Aptos" panose="020B0004020202020204" pitchFamily="34" charset="0"/>
                  </a:rPr>
                  <a:t>a </a:t>
                </a:r>
                <a:r>
                  <a:rPr lang="en-NL" sz="1400" dirty="0">
                    <a:latin typeface="Aptos" panose="020B0004020202020204" pitchFamily="34" charset="0"/>
                  </a:rPr>
                  <a:t>subnetwork</a:t>
                </a:r>
                <a:r>
                  <a:rPr lang="hu-HU" sz="1400" dirty="0">
                    <a:latin typeface="Aptos" panose="020B0004020202020204" pitchFamily="34" charset="0"/>
                  </a:rPr>
                  <a:t> through optimizing to: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hu-HU" sz="1400" dirty="0">
                    <a:latin typeface="Aptos" panose="020B0004020202020204" pitchFamily="34" charset="0"/>
                  </a:rPr>
                  <a:t>include more input nodes with high prize (</a:t>
                </a:r>
                <a:r>
                  <a:rPr lang="hu-HU" sz="1400" dirty="0">
                    <a:latin typeface="Aptos" panose="020B0004020202020204" pitchFamily="34" charset="0"/>
                    <a:sym typeface="Wingdings" panose="05000000000000000000" pitchFamily="2" charset="2"/>
                  </a:rPr>
                  <a:t>prize = </a:t>
                </a:r>
                <a:r>
                  <a:rPr lang="hu-HU" sz="1400" dirty="0">
                    <a:latin typeface="Aptos" panose="020B0004020202020204" pitchFamily="34" charset="0"/>
                  </a:rPr>
                  <a:t>absolute LFC)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hu-HU" sz="1400" dirty="0">
                    <a:latin typeface="Aptos" panose="020B0004020202020204" pitchFamily="34" charset="0"/>
                  </a:rPr>
                  <a:t>Decrease </a:t>
                </a:r>
                <a:r>
                  <a:rPr lang="en-NL" sz="1400" dirty="0">
                    <a:latin typeface="Aptos" panose="020B0004020202020204" pitchFamily="34" charset="0"/>
                  </a:rPr>
                  <a:t>edge costs</a:t>
                </a:r>
                <a:r>
                  <a:rPr lang="hu-HU" sz="1400" dirty="0">
                    <a:latin typeface="Aptos" panose="020B0004020202020204" pitchFamily="34" charset="0"/>
                  </a:rPr>
                  <a:t> (low cost  ~ high evidence)</a:t>
                </a:r>
                <a:r>
                  <a:rPr lang="en-NL" sz="1400" dirty="0">
                    <a:latin typeface="Aptos" panose="020B0004020202020204" pitchFamily="34" charset="0"/>
                  </a:rPr>
                  <a:t>. </a:t>
                </a:r>
                <a:endParaRPr lang="en-NL" dirty="0">
                  <a:effectLst/>
                  <a:latin typeface="SimSun" panose="02010600030101010101" pitchFamily="2" charset="-122"/>
                  <a:ea typeface="SimSun" panose="02010600030101010101" pitchFamily="2" charset="-122"/>
                  <a:cs typeface="Aptos" panose="020B0004020202020204" pitchFamily="34" charset="0"/>
                </a:endParaRPr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E4EF2BBA-F2F2-3D03-5E18-13CE7BC904E7}"/>
                  </a:ext>
                </a:extLst>
              </p:cNvPr>
              <p:cNvGrpSpPr/>
              <p:nvPr/>
            </p:nvGrpSpPr>
            <p:grpSpPr>
              <a:xfrm>
                <a:off x="2762593" y="1050302"/>
                <a:ext cx="5372413" cy="3903823"/>
                <a:chOff x="2762593" y="1050302"/>
                <a:chExt cx="5372413" cy="3903823"/>
              </a:xfrm>
            </p:grpSpPr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1D4744B-F4A9-ACA6-70BD-4019963743EA}"/>
                    </a:ext>
                  </a:extLst>
                </p:cNvPr>
                <p:cNvSpPr/>
                <p:nvPr/>
              </p:nvSpPr>
              <p:spPr>
                <a:xfrm>
                  <a:off x="4112359" y="1050302"/>
                  <a:ext cx="2839717" cy="561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1600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RESULT</a:t>
                  </a:r>
                  <a:r>
                    <a:rPr lang="hu-HU" sz="16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: </a:t>
                  </a:r>
                </a:p>
                <a:p>
                  <a:pPr algn="ctr"/>
                  <a:r>
                    <a:rPr lang="en-GB" sz="16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 “</a:t>
                  </a:r>
                  <a:r>
                    <a:rPr lang="hu-HU" sz="1600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OPTIMAL” SUBNETWORK</a:t>
                  </a:r>
                  <a:endParaRPr lang="en-NL" sz="16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  <p:cxnSp>
              <p:nvCxnSpPr>
                <p:cNvPr id="1071" name="Straight Arrow Connector 1070">
                  <a:extLst>
                    <a:ext uri="{FF2B5EF4-FFF2-40B4-BE49-F238E27FC236}">
                      <a16:creationId xmlns:a16="http://schemas.microsoft.com/office/drawing/2014/main" id="{A0467915-C20D-309A-C66E-A046A8039C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62593" y="3017437"/>
                  <a:ext cx="162725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04" name="Oval 1103">
                  <a:extLst>
                    <a:ext uri="{FF2B5EF4-FFF2-40B4-BE49-F238E27FC236}">
                      <a16:creationId xmlns:a16="http://schemas.microsoft.com/office/drawing/2014/main" id="{CCD92F33-3C9D-C983-F64A-5E5EEFD94EF7}"/>
                    </a:ext>
                  </a:extLst>
                </p:cNvPr>
                <p:cNvSpPr/>
                <p:nvPr/>
              </p:nvSpPr>
              <p:spPr>
                <a:xfrm>
                  <a:off x="4690966" y="2008704"/>
                  <a:ext cx="415844" cy="419223"/>
                </a:xfrm>
                <a:prstGeom prst="ellipse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1270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  <p:sp>
              <p:nvSpPr>
                <p:cNvPr id="1105" name="Oval 1104">
                  <a:extLst>
                    <a:ext uri="{FF2B5EF4-FFF2-40B4-BE49-F238E27FC236}">
                      <a16:creationId xmlns:a16="http://schemas.microsoft.com/office/drawing/2014/main" id="{C0D72D1C-8727-39ED-278E-F43E2B7FB1E1}"/>
                    </a:ext>
                  </a:extLst>
                </p:cNvPr>
                <p:cNvSpPr/>
                <p:nvPr/>
              </p:nvSpPr>
              <p:spPr>
                <a:xfrm>
                  <a:off x="5686800" y="2462493"/>
                  <a:ext cx="295275" cy="294572"/>
                </a:xfrm>
                <a:prstGeom prst="ellipse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1270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  <p:sp>
              <p:nvSpPr>
                <p:cNvPr id="1106" name="Oval 1105">
                  <a:extLst>
                    <a:ext uri="{FF2B5EF4-FFF2-40B4-BE49-F238E27FC236}">
                      <a16:creationId xmlns:a16="http://schemas.microsoft.com/office/drawing/2014/main" id="{D219E12F-905B-B927-C26D-6938B7AD1140}"/>
                    </a:ext>
                  </a:extLst>
                </p:cNvPr>
                <p:cNvSpPr/>
                <p:nvPr/>
              </p:nvSpPr>
              <p:spPr>
                <a:xfrm>
                  <a:off x="5299121" y="1879328"/>
                  <a:ext cx="295275" cy="294572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 w="1270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6</a:t>
                  </a:r>
                  <a:endParaRPr lang="en-NL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  <p:sp>
              <p:nvSpPr>
                <p:cNvPr id="1107" name="Oval 1106">
                  <a:extLst>
                    <a:ext uri="{FF2B5EF4-FFF2-40B4-BE49-F238E27FC236}">
                      <a16:creationId xmlns:a16="http://schemas.microsoft.com/office/drawing/2014/main" id="{10B9F938-5BE0-D0D1-E5D0-4E49B1D3FF4A}"/>
                    </a:ext>
                  </a:extLst>
                </p:cNvPr>
                <p:cNvSpPr/>
                <p:nvPr/>
              </p:nvSpPr>
              <p:spPr>
                <a:xfrm>
                  <a:off x="5594396" y="2973607"/>
                  <a:ext cx="267659" cy="272135"/>
                </a:xfrm>
                <a:prstGeom prst="ellipse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1270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/>
                </a:p>
              </p:txBody>
            </p:sp>
            <p:cxnSp>
              <p:nvCxnSpPr>
                <p:cNvPr id="1108" name="Straight Connector 1107">
                  <a:extLst>
                    <a:ext uri="{FF2B5EF4-FFF2-40B4-BE49-F238E27FC236}">
                      <a16:creationId xmlns:a16="http://schemas.microsoft.com/office/drawing/2014/main" id="{7464F1EC-FFBD-F3E6-02F0-F1AA5B86650F}"/>
                    </a:ext>
                  </a:extLst>
                </p:cNvPr>
                <p:cNvCxnSpPr>
                  <a:cxnSpLocks/>
                  <a:stCxn id="1105" idx="4"/>
                  <a:endCxn id="1107" idx="0"/>
                </p:cNvCxnSpPr>
                <p:nvPr/>
              </p:nvCxnSpPr>
              <p:spPr>
                <a:xfrm flipH="1">
                  <a:off x="5728226" y="2757065"/>
                  <a:ext cx="106212" cy="216542"/>
                </a:xfrm>
                <a:prstGeom prst="line">
                  <a:avLst/>
                </a:prstGeom>
                <a:ln w="2857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0" name="Straight Connector 1109">
                  <a:extLst>
                    <a:ext uri="{FF2B5EF4-FFF2-40B4-BE49-F238E27FC236}">
                      <a16:creationId xmlns:a16="http://schemas.microsoft.com/office/drawing/2014/main" id="{6113DE76-5EF9-F864-0155-30947B78F849}"/>
                    </a:ext>
                  </a:extLst>
                </p:cNvPr>
                <p:cNvCxnSpPr>
                  <a:cxnSpLocks/>
                  <a:stCxn id="1104" idx="7"/>
                  <a:endCxn id="1106" idx="2"/>
                </p:cNvCxnSpPr>
                <p:nvPr/>
              </p:nvCxnSpPr>
              <p:spPr>
                <a:xfrm flipV="1">
                  <a:off x="5045911" y="2026614"/>
                  <a:ext cx="253210" cy="43484"/>
                </a:xfrm>
                <a:prstGeom prst="line">
                  <a:avLst/>
                </a:prstGeom>
                <a:ln w="2857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1" name="Straight Connector 1110">
                  <a:extLst>
                    <a:ext uri="{FF2B5EF4-FFF2-40B4-BE49-F238E27FC236}">
                      <a16:creationId xmlns:a16="http://schemas.microsoft.com/office/drawing/2014/main" id="{46190BE0-3889-795A-97E9-923A8D14B9CC}"/>
                    </a:ext>
                  </a:extLst>
                </p:cNvPr>
                <p:cNvCxnSpPr>
                  <a:cxnSpLocks/>
                  <a:stCxn id="1105" idx="0"/>
                  <a:endCxn id="1106" idx="5"/>
                </p:cNvCxnSpPr>
                <p:nvPr/>
              </p:nvCxnSpPr>
              <p:spPr>
                <a:xfrm flipH="1" flipV="1">
                  <a:off x="5551154" y="2130761"/>
                  <a:ext cx="283284" cy="331732"/>
                </a:xfrm>
                <a:prstGeom prst="line">
                  <a:avLst/>
                </a:prstGeom>
                <a:ln w="2857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F7DDF7D7-AE7F-783D-C2A5-2B55019B8223}"/>
                    </a:ext>
                  </a:extLst>
                </p:cNvPr>
                <p:cNvSpPr/>
                <p:nvPr/>
              </p:nvSpPr>
              <p:spPr>
                <a:xfrm>
                  <a:off x="2994803" y="3117271"/>
                  <a:ext cx="1221705" cy="43050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1600" i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PCSF</a:t>
                  </a:r>
                </a:p>
                <a:p>
                  <a:pPr algn="ctr"/>
                  <a:r>
                    <a:rPr lang="hu-HU" sz="1600" i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algorithm</a:t>
                  </a:r>
                  <a:endParaRPr lang="en-NL" sz="1600" i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A08EAA2-FC7E-DECE-DAEC-C087AE4B297B}"/>
                    </a:ext>
                  </a:extLst>
                </p:cNvPr>
                <p:cNvSpPr txBox="1"/>
                <p:nvPr/>
              </p:nvSpPr>
              <p:spPr>
                <a:xfrm>
                  <a:off x="3859147" y="4123128"/>
                  <a:ext cx="4275859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hu-HU" sz="1600" b="1" dirty="0">
                      <a:latin typeface="Aptos" panose="020B0004020202020204" pitchFamily="34" charset="0"/>
                    </a:rPr>
                    <a:t>Key </a:t>
                  </a:r>
                  <a:r>
                    <a:rPr lang="en-NL" sz="1600" b="1" dirty="0">
                      <a:latin typeface="Aptos" panose="020B0004020202020204" pitchFamily="34" charset="0"/>
                    </a:rPr>
                    <a:t>kinases </a:t>
                  </a:r>
                  <a:r>
                    <a:rPr lang="hu-HU" sz="1600" b="1" dirty="0">
                      <a:latin typeface="Aptos" panose="020B0004020202020204" pitchFamily="34" charset="0"/>
                    </a:rPr>
                    <a:t>&amp; </a:t>
                  </a:r>
                  <a:r>
                    <a:rPr lang="en-NL" sz="1600" b="1" dirty="0">
                      <a:latin typeface="Aptos" panose="020B0004020202020204" pitchFamily="34" charset="0"/>
                    </a:rPr>
                    <a:t>high-confidence links </a:t>
                  </a:r>
                  <a:endParaRPr lang="hu-HU" sz="1600" b="1" dirty="0">
                    <a:latin typeface="Aptos" panose="020B0004020202020204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hu-HU" sz="1600" dirty="0">
                      <a:latin typeface="Aptos" panose="020B0004020202020204" pitchFamily="34" charset="0"/>
                    </a:rPr>
                    <a:t>Less FP (false positive – weakly connected)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hu-HU" sz="1600" dirty="0">
                      <a:latin typeface="Aptos" panose="020B0004020202020204" pitchFamily="34" charset="0"/>
                    </a:rPr>
                    <a:t>Less FN (false negative, hidden nodes)</a:t>
                  </a:r>
                  <a:endParaRPr lang="en-NL" sz="1600" dirty="0"/>
                </a:p>
              </p:txBody>
            </p:sp>
          </p:grp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AFD3025-EAC4-3D4B-ACDF-9A30B2F91F28}"/>
                  </a:ext>
                </a:extLst>
              </p:cNvPr>
              <p:cNvSpPr txBox="1"/>
              <p:nvPr/>
            </p:nvSpPr>
            <p:spPr>
              <a:xfrm>
                <a:off x="8628328" y="2177255"/>
                <a:ext cx="3328212" cy="29777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300"/>
                  </a:spcAft>
                </a:pPr>
                <a:r>
                  <a:rPr lang="hu-HU" b="1" dirty="0">
                    <a:solidFill>
                      <a:srgbClr val="00B050"/>
                    </a:solidFill>
                    <a:latin typeface="Aptos" panose="020B0004020202020204" pitchFamily="34" charset="0"/>
                  </a:rPr>
                  <a:t>Generating networks enhances robustness of UKA results:</a:t>
                </a:r>
              </a:p>
              <a:p>
                <a:pPr marL="285750" indent="-285750">
                  <a:spcAft>
                    <a:spcPts val="300"/>
                  </a:spcAft>
                  <a:buFont typeface="Arial" panose="020B0604020202020204" pitchFamily="34" charset="0"/>
                  <a:buChar char="•"/>
                </a:pPr>
                <a:r>
                  <a:rPr lang="en-NL" dirty="0">
                    <a:latin typeface="Aptos" panose="020B0004020202020204" pitchFamily="34" charset="0"/>
                  </a:rPr>
                  <a:t>pruning weakly connected or low-fold-change nodes (probably </a:t>
                </a:r>
                <a:r>
                  <a:rPr lang="hu-HU" dirty="0">
                    <a:latin typeface="Aptos" panose="020B0004020202020204" pitchFamily="34" charset="0"/>
                  </a:rPr>
                  <a:t>FP</a:t>
                </a:r>
                <a:r>
                  <a:rPr lang="en-NL" dirty="0">
                    <a:latin typeface="Aptos" panose="020B0004020202020204" pitchFamily="34" charset="0"/>
                  </a:rPr>
                  <a:t>) </a:t>
                </a:r>
                <a:endParaRPr lang="hu-HU" dirty="0">
                  <a:latin typeface="Aptos" panose="020B0004020202020204" pitchFamily="34" charset="0"/>
                </a:endParaRPr>
              </a:p>
              <a:p>
                <a:pPr marL="285750" indent="-285750">
                  <a:spcAft>
                    <a:spcPts val="300"/>
                  </a:spcAft>
                  <a:buFont typeface="Arial" panose="020B0604020202020204" pitchFamily="34" charset="0"/>
                  <a:buChar char="•"/>
                </a:pPr>
                <a:r>
                  <a:rPr lang="en-NL" dirty="0">
                    <a:latin typeface="Aptos" panose="020B0004020202020204" pitchFamily="34" charset="0"/>
                  </a:rPr>
                  <a:t>and recovering missing connections through hidden nodes (probably </a:t>
                </a:r>
                <a:r>
                  <a:rPr lang="hu-HU" dirty="0">
                    <a:latin typeface="Aptos" panose="020B0004020202020204" pitchFamily="34" charset="0"/>
                  </a:rPr>
                  <a:t>FN</a:t>
                </a:r>
                <a:r>
                  <a:rPr lang="en-NL" dirty="0">
                    <a:latin typeface="Aptos" panose="020B0004020202020204" pitchFamily="34" charset="0"/>
                  </a:rPr>
                  <a:t>).</a:t>
                </a:r>
              </a:p>
              <a:p>
                <a:pPr marL="285750" indent="-285750">
                  <a:spcAft>
                    <a:spcPts val="300"/>
                  </a:spcAft>
                  <a:buFont typeface="Arial" panose="020B0604020202020204" pitchFamily="34" charset="0"/>
                  <a:buChar char="•"/>
                </a:pPr>
                <a:endParaRPr lang="hu-HU" dirty="0">
                  <a:solidFill>
                    <a:srgbClr val="00B050"/>
                  </a:solidFill>
                  <a:latin typeface="Aptos" panose="020B0004020202020204" pitchFamily="34" charset="0"/>
                </a:endParaRP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01C8A641-65E3-8B59-7E46-3EAD8D6940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26789" y="3065621"/>
                <a:ext cx="904672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2EC3B86-7E9A-B57D-DEAF-BDFD1E02E723}"/>
                </a:ext>
              </a:extLst>
            </p:cNvPr>
            <p:cNvSpPr txBox="1"/>
            <p:nvPr/>
          </p:nvSpPr>
          <p:spPr>
            <a:xfrm>
              <a:off x="4258569" y="5151101"/>
              <a:ext cx="1522763" cy="3463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hu-HU" sz="1600" dirty="0">
                  <a:solidFill>
                    <a:schemeClr val="tx1"/>
                  </a:solidFill>
                  <a:latin typeface="Aptos" panose="020B0004020202020204" pitchFamily="34" charset="0"/>
                </a:rPr>
                <a:t>Hidden nodes</a:t>
              </a:r>
              <a:endParaRPr lang="en-NL" sz="1600" dirty="0">
                <a:solidFill>
                  <a:schemeClr val="tx1"/>
                </a:solidFill>
                <a:latin typeface="Aptos" panose="020B0004020202020204" pitchFamily="34" charset="0"/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B5765BB4-DD5B-9E26-8857-9D2BE1A28C15}"/>
              </a:ext>
            </a:extLst>
          </p:cNvPr>
          <p:cNvSpPr/>
          <p:nvPr/>
        </p:nvSpPr>
        <p:spPr>
          <a:xfrm>
            <a:off x="2292362" y="1744805"/>
            <a:ext cx="295275" cy="29457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/>
                </a:solidFill>
                <a:latin typeface="Aptos" panose="020B0004020202020204" pitchFamily="34" charset="0"/>
              </a:rPr>
              <a:t>7</a:t>
            </a:r>
            <a:endParaRPr lang="en-NL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9C15493-2B0F-AEFB-A34B-BD931C99319F}"/>
              </a:ext>
            </a:extLst>
          </p:cNvPr>
          <p:cNvCxnSpPr>
            <a:cxnSpLocks/>
            <a:stCxn id="76" idx="0"/>
            <a:endCxn id="17" idx="4"/>
          </p:cNvCxnSpPr>
          <p:nvPr/>
        </p:nvCxnSpPr>
        <p:spPr>
          <a:xfrm flipV="1">
            <a:off x="2398575" y="2039377"/>
            <a:ext cx="41425" cy="515130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2523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F9F152-4629-26B1-870E-52FCCFA453F1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03A19-5C94-0D93-B938-B26ADA5A464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24124" y="-26140"/>
            <a:ext cx="8571238" cy="636442"/>
          </a:xfrm>
        </p:spPr>
        <p:txBody>
          <a:bodyPr/>
          <a:lstStyle/>
          <a:p>
            <a:r>
              <a:rPr lang="hu-HU" sz="4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How to select most relevant pathways</a:t>
            </a:r>
            <a:endParaRPr lang="en-NL" sz="4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95E1FE-F841-931B-D115-AC9141488AB9}"/>
              </a:ext>
            </a:extLst>
          </p:cNvPr>
          <p:cNvSpPr txBox="1"/>
          <p:nvPr/>
        </p:nvSpPr>
        <p:spPr>
          <a:xfrm>
            <a:off x="301855" y="1026123"/>
            <a:ext cx="5174035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6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Enrich_results</a:t>
            </a:r>
            <a:r>
              <a:rPr lang="hu-HU" sz="16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.csv holds information about the pathways annotated to the network clusters.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600" dirty="0">
                <a:latin typeface="Aptos" panose="020B0004020202020204" pitchFamily="34" charset="0"/>
                <a:cs typeface="Times New Roman" panose="02020603050405020304" pitchFamily="18" charset="0"/>
              </a:rPr>
              <a:t>Every pathway belongs to a Reactome pathway group (e.g. AKT signaling is under Signal Transduction).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600" i="1" dirty="0">
                <a:latin typeface="Aptos" panose="020B0004020202020204" pitchFamily="34" charset="0"/>
                <a:cs typeface="Times New Roman" panose="02020603050405020304" pitchFamily="18" charset="0"/>
              </a:rPr>
              <a:t>Hierarchy_n column</a:t>
            </a:r>
            <a:r>
              <a:rPr lang="hu-HU" sz="1600" dirty="0">
                <a:latin typeface="Aptos" panose="020B0004020202020204" pitchFamily="34" charset="0"/>
                <a:cs typeface="Times New Roman" panose="02020603050405020304" pitchFamily="18" charset="0"/>
              </a:rPr>
              <a:t>: shows the hierarchy level (e.g. Signal Transduction is level 1). This </a:t>
            </a:r>
            <a:r>
              <a:rPr lang="hu-HU" sz="1600" i="1" dirty="0">
                <a:latin typeface="Aptos" panose="020B0004020202020204" pitchFamily="34" charset="0"/>
                <a:cs typeface="Times New Roman" panose="02020603050405020304" pitchFamily="18" charset="0"/>
              </a:rPr>
              <a:t>helps to identify the most relevant pathways</a:t>
            </a:r>
            <a:r>
              <a:rPr lang="hu-HU" sz="1600" dirty="0">
                <a:latin typeface="Aptos" panose="020B0004020202020204" pitchFamily="34" charset="0"/>
                <a:cs typeface="Times New Roman" panose="02020603050405020304" pitchFamily="18" charset="0"/>
              </a:rPr>
              <a:t>: usually top levels are too generic and bottom levels might be better.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600" i="1" dirty="0">
                <a:latin typeface="Aptos" panose="020B0004020202020204" pitchFamily="34" charset="0"/>
                <a:cs typeface="Times New Roman" panose="02020603050405020304" pitchFamily="18" charset="0"/>
              </a:rPr>
              <a:t>Overlaps column</a:t>
            </a:r>
            <a:r>
              <a:rPr lang="hu-HU" sz="1600" dirty="0">
                <a:latin typeface="Aptos" panose="020B0004020202020204" pitchFamily="34" charset="0"/>
                <a:cs typeface="Times New Roman" panose="02020603050405020304" pitchFamily="18" charset="0"/>
              </a:rPr>
              <a:t> can also help to assess pathway relevance. It shows how many pathway members are in the data (e.g. 3/10 means 3 kinases from the UKA results are found in a pathway of 10 members). (This column might be misformatted in Excel!)</a:t>
            </a:r>
            <a:endParaRPr lang="hu-HU" sz="1600" b="1" i="1" dirty="0"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4E96B2-DCF2-FC71-1C70-7E96F91A8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275" y="988691"/>
            <a:ext cx="5629083" cy="32557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CB20D9A-F059-705F-2EF6-761BDFADC260}"/>
              </a:ext>
            </a:extLst>
          </p:cNvPr>
          <p:cNvSpPr txBox="1"/>
          <p:nvPr/>
        </p:nvSpPr>
        <p:spPr>
          <a:xfrm>
            <a:off x="187814" y="4533915"/>
            <a:ext cx="11816372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hu-HU" sz="1600" b="1" dirty="0">
                <a:solidFill>
                  <a:srgbClr val="048210"/>
                </a:solidFill>
                <a:latin typeface="Aptos" panose="020B0004020202020204" pitchFamily="34" charset="0"/>
              </a:rPr>
              <a:t>Which are the most relevant pathways?</a:t>
            </a:r>
          </a:p>
          <a:p>
            <a:r>
              <a:rPr lang="en-GB" sz="1600" dirty="0">
                <a:solidFill>
                  <a:srgbClr val="048210"/>
                </a:solidFill>
                <a:latin typeface="Aptos" panose="020B0004020202020204" pitchFamily="34" charset="0"/>
              </a:rPr>
              <a:t>There is no simple metric. Pathways </a:t>
            </a:r>
            <a:r>
              <a:rPr lang="hu-HU" sz="1600" dirty="0">
                <a:solidFill>
                  <a:srgbClr val="048210"/>
                </a:solidFill>
                <a:latin typeface="Aptos" panose="020B0004020202020204" pitchFamily="34" charset="0"/>
              </a:rPr>
              <a:t>usually </a:t>
            </a:r>
            <a:r>
              <a:rPr lang="en-GB" sz="1600" dirty="0">
                <a:solidFill>
                  <a:srgbClr val="048210"/>
                </a:solidFill>
                <a:latin typeface="Aptos" panose="020B0004020202020204" pitchFamily="34" charset="0"/>
              </a:rPr>
              <a:t>share members, and a pathway that is relevant in one model may be irrelevant in another.</a:t>
            </a:r>
            <a:br>
              <a:rPr lang="en-GB" sz="1600" dirty="0">
                <a:solidFill>
                  <a:srgbClr val="048210"/>
                </a:solidFill>
                <a:latin typeface="Aptos" panose="020B0004020202020204" pitchFamily="34" charset="0"/>
              </a:rPr>
            </a:br>
            <a:r>
              <a:rPr lang="en-GB" sz="1600" dirty="0">
                <a:solidFill>
                  <a:srgbClr val="048210"/>
                </a:solidFill>
                <a:latin typeface="Aptos" panose="020B0004020202020204" pitchFamily="34" charset="0"/>
              </a:rPr>
              <a:t>In addition, statistical tests do not consider how specific members are to a pathway. As a result, a pathway may receive a strong p-value even if only non-specific members are detected.</a:t>
            </a:r>
            <a:endParaRPr lang="hu-HU" sz="1600" dirty="0">
              <a:solidFill>
                <a:srgbClr val="048210"/>
              </a:solidFill>
              <a:latin typeface="Aptos" panose="020B0004020202020204" pitchFamily="34" charset="0"/>
            </a:endParaRPr>
          </a:p>
          <a:p>
            <a:endParaRPr lang="hu-HU" sz="1600" b="1" dirty="0">
              <a:solidFill>
                <a:srgbClr val="048210"/>
              </a:solidFill>
              <a:latin typeface="Aptos" panose="020B0004020202020204" pitchFamily="34" charset="0"/>
            </a:endParaRPr>
          </a:p>
          <a:p>
            <a:r>
              <a:rPr lang="en-GB" sz="1600" b="1" dirty="0">
                <a:solidFill>
                  <a:srgbClr val="048210"/>
                </a:solidFill>
                <a:latin typeface="Aptos" panose="020B0004020202020204" pitchFamily="34" charset="0"/>
              </a:rPr>
              <a:t>Therefore, we recommend assessing pathway relevance using biological domain knowledge rather than relying on p-values or combined scores.</a:t>
            </a:r>
            <a:endParaRPr lang="en-NL" sz="1600" b="1" dirty="0">
              <a:solidFill>
                <a:srgbClr val="04821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943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0D5A15-4C49-8901-2A91-8E6202291E0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A2D91-976A-26B3-B579-22382D373E0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24125" y="-26140"/>
            <a:ext cx="6507296" cy="636442"/>
          </a:xfrm>
        </p:spPr>
        <p:txBody>
          <a:bodyPr/>
          <a:lstStyle/>
          <a:p>
            <a:r>
              <a:rPr lang="hu-HU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Other network files</a:t>
            </a:r>
            <a:endParaRPr lang="en-NL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21C08-AF3B-F44F-B604-B4B9BB4136BB}"/>
              </a:ext>
            </a:extLst>
          </p:cNvPr>
          <p:cNvSpPr txBox="1"/>
          <p:nvPr/>
        </p:nvSpPr>
        <p:spPr>
          <a:xfrm>
            <a:off x="524124" y="1452403"/>
            <a:ext cx="104486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hu-HU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Nodes.csv: 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list of all kinase and hidden nodes in the network</a:t>
            </a: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hu-HU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Nodes_clusters: </a:t>
            </a:r>
            <a:r>
              <a:rPr lang="hu-HU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 clusters.</a:t>
            </a:r>
            <a:endParaRPr lang="en-NL" sz="2000" b="1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hu-HU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Missing nodes.csv: 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kinases that passed the thresholds but are not in the network because they are weakly connected / low fold change. Might be false positives.</a:t>
            </a:r>
            <a:endParaRPr lang="en-NL" sz="2000" b="1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hu-HU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Nodes with pathways.csv: 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nodes to pathways</a:t>
            </a:r>
            <a:r>
              <a:rPr lang="hu-HU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hu-HU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mapping</a:t>
            </a:r>
            <a:endParaRPr lang="hu-HU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Folders with the files </a:t>
            </a:r>
            <a:r>
              <a:rPr lang="hu-HU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of the </a:t>
            </a:r>
            <a:r>
              <a:rPr lang="hu-HU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network html (don’t delete it)</a:t>
            </a:r>
          </a:p>
        </p:txBody>
      </p:sp>
    </p:spTree>
    <p:extLst>
      <p:ext uri="{BB962C8B-B14F-4D97-AF65-F5344CB8AC3E}">
        <p14:creationId xmlns:p14="http://schemas.microsoft.com/office/powerpoint/2010/main" val="1421716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75D50D-772A-BF89-5120-801371F7DAF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AD7D08-768F-BEF5-F296-8B9B703F19F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24124" y="25394"/>
            <a:ext cx="10143875" cy="636442"/>
          </a:xfrm>
        </p:spPr>
        <p:txBody>
          <a:bodyPr/>
          <a:lstStyle/>
          <a:p>
            <a:r>
              <a:rPr lang="hu-HU" sz="3600" dirty="0">
                <a:latin typeface="Calibri Light" panose="020F0302020204030204" pitchFamily="34" charset="0"/>
                <a:cs typeface="Calibri Light" panose="020F0302020204030204" pitchFamily="34" charset="0"/>
              </a:rPr>
              <a:t>PCSF in details</a:t>
            </a:r>
            <a:endParaRPr lang="en-NL" sz="3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62E682-FB7F-9325-EE9A-E3022366A017}"/>
                  </a:ext>
                </a:extLst>
              </p:cNvPr>
              <p:cNvSpPr txBox="1"/>
              <p:nvPr/>
            </p:nvSpPr>
            <p:spPr>
              <a:xfrm>
                <a:off x="375628" y="860316"/>
                <a:ext cx="10391775" cy="25514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500" dirty="0">
                    <a:latin typeface="Aptos" panose="020B0004020202020204" pitchFamily="34" charset="0"/>
                  </a:rPr>
                  <a:t>The PCSF </a:t>
                </a:r>
                <a:r>
                  <a:rPr lang="hu-HU" sz="1500" dirty="0">
                    <a:latin typeface="Aptos" panose="020B0004020202020204" pitchFamily="34" charset="0"/>
                  </a:rPr>
                  <a:t>(</a:t>
                </a:r>
                <a:r>
                  <a:rPr lang="en-GB" sz="1500" dirty="0">
                    <a:latin typeface="Aptos" panose="020B0004020202020204" pitchFamily="34" charset="0"/>
                    <a:hlinkClick r:id="rId2"/>
                  </a:rPr>
                  <a:t>Prize-Collecting Steiner Forest algorithm</a:t>
                </a:r>
                <a:r>
                  <a:rPr lang="hu-HU" sz="1500" dirty="0">
                    <a:latin typeface="Aptos" panose="020B0004020202020204" pitchFamily="34" charset="0"/>
                  </a:rPr>
                  <a:t>) </a:t>
                </a:r>
                <a:r>
                  <a:rPr lang="en-GB" sz="1500" dirty="0">
                    <a:latin typeface="Aptos" panose="020B0004020202020204" pitchFamily="34" charset="0"/>
                  </a:rPr>
                  <a:t>solves a network optimization problem</a:t>
                </a:r>
                <a:r>
                  <a:rPr lang="hu-HU" sz="1500" dirty="0">
                    <a:latin typeface="Aptos" panose="020B0004020202020204" pitchFamily="34" charset="0"/>
                  </a:rPr>
                  <a:t>. Given a reference network, where the nodes have prizes and the edges have costs, it aims to identify a subnetwork  with a given node input. Subnetwork construction is an optimization to minimize the total edge costs and the total node prizes left out: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u-HU" sz="1500" b="0" i="1" smtClean="0">
                          <a:latin typeface="Cambria Math" panose="02040503050406030204" pitchFamily="18" charset="0"/>
                        </a:rPr>
                        <m:t>𝑀𝑖𝑛𝑖𝑚𝑖𝑧𝑒</m:t>
                      </m:r>
                      <m:d>
                        <m:dPr>
                          <m:ctrlPr>
                            <a:rPr lang="hu-HU" sz="1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hu-HU" sz="15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hu-HU" sz="1500" i="1">
                                  <a:latin typeface="Cambria Math" panose="02040503050406030204" pitchFamily="18" charset="0"/>
                                </a:rPr>
                                <m:t>𝑒𝑑𝑔𝑒</m:t>
                              </m:r>
                              <m:r>
                                <a:rPr lang="hu-HU" sz="15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1500" i="1">
                                  <a:latin typeface="Cambria Math" panose="02040503050406030204" pitchFamily="18" charset="0"/>
                                </a:rPr>
                                <m:t>𝑐𝑜𝑠𝑡</m:t>
                              </m:r>
                            </m:e>
                          </m:nary>
                          <m:r>
                            <a:rPr lang="hu-HU" sz="15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hu-HU" sz="1500" i="1">
                              <a:latin typeface="Cambria Math" panose="02040503050406030204" pitchFamily="18" charset="0"/>
                            </a:rPr>
                            <m:t>𝑏</m:t>
                          </m:r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hu-HU" sz="15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hu-HU" sz="1500" i="1">
                                  <a:latin typeface="Cambria Math" panose="02040503050406030204" pitchFamily="18" charset="0"/>
                                </a:rPr>
                                <m:t>𝑝𝑟𝑖𝑧𝑒</m:t>
                              </m:r>
                              <m:r>
                                <a:rPr lang="hu-HU" sz="15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1500" b="0" i="1" smtClean="0">
                                  <a:latin typeface="Cambria Math" panose="02040503050406030204" pitchFamily="18" charset="0"/>
                                </a:rPr>
                                <m:t>𝑜𝑓</m:t>
                              </m:r>
                              <m:r>
                                <a:rPr lang="hu-HU" sz="15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1500" b="0" i="1" smtClean="0">
                                  <a:latin typeface="Cambria Math" panose="02040503050406030204" pitchFamily="18" charset="0"/>
                                </a:rPr>
                                <m:t>𝑛𝑜𝑑𝑒𝑠</m:t>
                              </m:r>
                              <m:r>
                                <a:rPr lang="hu-HU" sz="15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1500" b="0" i="1" smtClean="0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  <m:r>
                                <a:rPr lang="hu-HU" sz="15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hu-HU" sz="1500" b="0" i="1" smtClean="0"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hu-HU" sz="1500" dirty="0">
                  <a:latin typeface="Aptos" panose="020B0004020202020204" pitchFamily="34" charset="0"/>
                </a:endParaRPr>
              </a:p>
              <a:p>
                <a:r>
                  <a:rPr lang="hu-HU" sz="1500" dirty="0">
                    <a:latin typeface="Aptos" panose="020B0004020202020204" pitchFamily="34" charset="0"/>
                  </a:rPr>
                  <a:t>Where b </a:t>
                </a:r>
                <a:r>
                  <a:rPr lang="en-GB" sz="1500" dirty="0">
                    <a:latin typeface="Aptos" panose="020B0004020202020204" pitchFamily="34" charset="0"/>
                  </a:rPr>
                  <a:t>is used to tune the prizes of nodes relative to edge cost</a:t>
                </a:r>
                <a:r>
                  <a:rPr lang="hu-HU" sz="1500" dirty="0">
                    <a:latin typeface="Aptos" panose="020B0004020202020204" pitchFamily="34" charset="0"/>
                  </a:rPr>
                  <a:t>s. Higher b leads to more input nodes incorporated in the result subnetwork.</a:t>
                </a:r>
              </a:p>
              <a:p>
                <a:br>
                  <a:rPr lang="hu-HU" sz="1500" dirty="0">
                    <a:latin typeface="Aptos" panose="020B0004020202020204" pitchFamily="34" charset="0"/>
                  </a:rPr>
                </a:br>
                <a:r>
                  <a:rPr lang="en-GB" sz="1500" dirty="0">
                    <a:latin typeface="Aptos" panose="020B0004020202020204" pitchFamily="34" charset="0"/>
                  </a:rPr>
                  <a:t>We use the PCSF R package with the STRING network (v12.0) </a:t>
                </a:r>
                <a:r>
                  <a:rPr lang="hu-HU" sz="1500" dirty="0">
                    <a:latin typeface="Aptos" panose="020B0004020202020204" pitchFamily="34" charset="0"/>
                  </a:rPr>
                  <a:t>containing all edges </a:t>
                </a:r>
                <a:r>
                  <a:rPr lang="en-GB" sz="1500" dirty="0">
                    <a:latin typeface="Aptos" panose="020B0004020202020204" pitchFamily="34" charset="0"/>
                  </a:rPr>
                  <a:t>as the reference interactome</a:t>
                </a:r>
                <a:r>
                  <a:rPr lang="hu-HU" sz="1500" dirty="0">
                    <a:latin typeface="Aptos" panose="020B0004020202020204" pitchFamily="34" charset="0"/>
                  </a:rPr>
                  <a:t>. N</a:t>
                </a:r>
                <a:r>
                  <a:rPr lang="en-GB" sz="1500" dirty="0">
                    <a:latin typeface="Aptos" panose="020B0004020202020204" pitchFamily="34" charset="0"/>
                  </a:rPr>
                  <a:t>ode prizes </a:t>
                </a:r>
                <a:r>
                  <a:rPr lang="hu-HU" sz="1500" dirty="0">
                    <a:latin typeface="Aptos" panose="020B0004020202020204" pitchFamily="34" charset="0"/>
                  </a:rPr>
                  <a:t>are assigned </a:t>
                </a:r>
                <a:r>
                  <a:rPr lang="en-GB" sz="1500" dirty="0">
                    <a:latin typeface="Aptos" panose="020B0004020202020204" pitchFamily="34" charset="0"/>
                  </a:rPr>
                  <a:t>based on the UKA and Target Fold Changes.</a:t>
                </a:r>
                <a:endParaRPr lang="hu-HU" sz="1500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62E682-FB7F-9325-EE9A-E3022366A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628" y="860316"/>
                <a:ext cx="10391775" cy="2551468"/>
              </a:xfrm>
              <a:prstGeom prst="rect">
                <a:avLst/>
              </a:prstGeom>
              <a:blipFill>
                <a:blip r:embed="rId3"/>
                <a:stretch>
                  <a:fillRect l="-235" t="-239" b="-1909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4262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75A732-D0C9-F7AE-AB31-DBA4D6876249}"/>
              </a:ext>
            </a:extLst>
          </p:cNvPr>
          <p:cNvGraphicFramePr>
            <a:graphicFrameLocks noGrp="1"/>
          </p:cNvGraphicFramePr>
          <p:nvPr>
            <p:ph sz="quarter" idx="11"/>
            <p:extLst>
              <p:ext uri="{D42A27DB-BD31-4B8C-83A1-F6EECF244321}">
                <p14:modId xmlns:p14="http://schemas.microsoft.com/office/powerpoint/2010/main" val="2755111560"/>
              </p:ext>
            </p:extLst>
          </p:nvPr>
        </p:nvGraphicFramePr>
        <p:xfrm>
          <a:off x="524125" y="1225731"/>
          <a:ext cx="9363732" cy="44065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340933">
                  <a:extLst>
                    <a:ext uri="{9D8B030D-6E8A-4147-A177-3AD203B41FA5}">
                      <a16:colId xmlns:a16="http://schemas.microsoft.com/office/drawing/2014/main" val="3210367554"/>
                    </a:ext>
                  </a:extLst>
                </a:gridCol>
                <a:gridCol w="2340933">
                  <a:extLst>
                    <a:ext uri="{9D8B030D-6E8A-4147-A177-3AD203B41FA5}">
                      <a16:colId xmlns:a16="http://schemas.microsoft.com/office/drawing/2014/main" val="3298364822"/>
                    </a:ext>
                  </a:extLst>
                </a:gridCol>
                <a:gridCol w="2340933">
                  <a:extLst>
                    <a:ext uri="{9D8B030D-6E8A-4147-A177-3AD203B41FA5}">
                      <a16:colId xmlns:a16="http://schemas.microsoft.com/office/drawing/2014/main" val="3821311179"/>
                    </a:ext>
                  </a:extLst>
                </a:gridCol>
                <a:gridCol w="2340933">
                  <a:extLst>
                    <a:ext uri="{9D8B030D-6E8A-4147-A177-3AD203B41FA5}">
                      <a16:colId xmlns:a16="http://schemas.microsoft.com/office/drawing/2014/main" val="2976871019"/>
                    </a:ext>
                  </a:extLst>
                </a:gridCol>
              </a:tblGrid>
              <a:tr h="37598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Evidence Channel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Type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Reliability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Key Strength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extLst>
                  <a:ext uri="{0D108BD9-81ED-4DB2-BD59-A6C34878D82A}">
                    <a16:rowId xmlns:a16="http://schemas.microsoft.com/office/drawing/2014/main" val="2819207033"/>
                  </a:ext>
                </a:extLst>
              </a:tr>
              <a:tr h="44253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Experimental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Direct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🥇 Highest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Proof of direct physical or genetic interaction.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extLst>
                  <a:ext uri="{0D108BD9-81ED-4DB2-BD59-A6C34878D82A}">
                    <a16:rowId xmlns:a16="http://schemas.microsoft.com/office/drawing/2014/main" val="1159223849"/>
                  </a:ext>
                </a:extLst>
              </a:tr>
              <a:tr h="60542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Curated Databases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Direct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🥇 Very High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Expert-validated functional association in pathways/complexes.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extLst>
                  <a:ext uri="{0D108BD9-81ED-4DB2-BD59-A6C34878D82A}">
                    <a16:rowId xmlns:a16="http://schemas.microsoft.com/office/drawing/2014/main" val="2464623132"/>
                  </a:ext>
                </a:extLst>
              </a:tr>
              <a:tr h="60542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Gene Fusion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Genomic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🥈 High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Strong evolutionary evidence for functional interaction.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extLst>
                  <a:ext uri="{0D108BD9-81ED-4DB2-BD59-A6C34878D82A}">
                    <a16:rowId xmlns:a16="http://schemas.microsoft.com/office/drawing/2014/main" val="1811399768"/>
                  </a:ext>
                </a:extLst>
              </a:tr>
              <a:tr h="60542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Gene Neighborhood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Genomic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🥈 High (Prok) / Low (</a:t>
                      </a:r>
                      <a:r>
                        <a:rPr lang="en-NL" sz="1400" kern="100" dirty="0" err="1">
                          <a:effectLst/>
                        </a:rPr>
                        <a:t>Euk</a:t>
                      </a:r>
                      <a:r>
                        <a:rPr lang="en-NL" sz="1400" kern="100" dirty="0">
                          <a:effectLst/>
                        </a:rPr>
                        <a:t>)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Evidence for operons and co-regulation (mainly in bacteria).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extLst>
                  <a:ext uri="{0D108BD9-81ED-4DB2-BD59-A6C34878D82A}">
                    <a16:rowId xmlns:a16="http://schemas.microsoft.com/office/drawing/2014/main" val="4242121560"/>
                  </a:ext>
                </a:extLst>
              </a:tr>
              <a:tr h="60542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Gene Co-occurrence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Genomic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🥈 Medium-High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Evidence for participation in the same pathway/system.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extLst>
                  <a:ext uri="{0D108BD9-81ED-4DB2-BD59-A6C34878D82A}">
                    <a16:rowId xmlns:a16="http://schemas.microsoft.com/office/drawing/2014/main" val="2549294842"/>
                  </a:ext>
                </a:extLst>
              </a:tr>
              <a:tr h="60542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Co-expression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Functional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🥈 Medium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Strong evidence for co-regulation and functional association.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extLst>
                  <a:ext uri="{0D108BD9-81ED-4DB2-BD59-A6C34878D82A}">
                    <a16:rowId xmlns:a16="http://schemas.microsoft.com/office/drawing/2014/main" val="2027373043"/>
                  </a:ext>
                </a:extLst>
              </a:tr>
              <a:tr h="37598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Text mining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Literature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>
                          <a:effectLst/>
                        </a:rPr>
                        <a:t>🥉 Lower</a:t>
                      </a:r>
                      <a:endParaRPr lang="en-NL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NL" sz="1400" kern="100" dirty="0">
                          <a:effectLst/>
                        </a:rPr>
                        <a:t>High-level associative </a:t>
                      </a:r>
                      <a:endParaRPr lang="en-NL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816" marR="9816" marT="6135" marB="6135" anchor="ctr"/>
                </a:tc>
                <a:extLst>
                  <a:ext uri="{0D108BD9-81ED-4DB2-BD59-A6C34878D82A}">
                    <a16:rowId xmlns:a16="http://schemas.microsoft.com/office/drawing/2014/main" val="2149620202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95B43-1EA0-CD3C-8182-EA9D9BBB39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24125" y="-26140"/>
            <a:ext cx="8707424" cy="636442"/>
          </a:xfrm>
        </p:spPr>
        <p:txBody>
          <a:bodyPr/>
          <a:lstStyle/>
          <a:p>
            <a:r>
              <a:rPr lang="hu-HU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Evidence channels of STRING</a:t>
            </a:r>
            <a:endParaRPr lang="en-NL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2297304"/>
      </p:ext>
    </p:extLst>
  </p:cSld>
  <p:clrMapOvr>
    <a:masterClrMapping/>
  </p:clrMapOvr>
</p:sld>
</file>

<file path=ppt/theme/theme1.xml><?xml version="1.0" encoding="utf-8"?>
<a:theme xmlns:a="http://schemas.openxmlformats.org/drawingml/2006/main" name="Section Header">
  <a:themeElements>
    <a:clrScheme name="Custom 9">
      <a:dk1>
        <a:sysClr val="windowText" lastClr="000000"/>
      </a:dk1>
      <a:lt1>
        <a:sysClr val="window" lastClr="FFFFFF"/>
      </a:lt1>
      <a:dk2>
        <a:srgbClr val="3C495B"/>
      </a:dk2>
      <a:lt2>
        <a:srgbClr val="BCA18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ection Master">
  <a:themeElements>
    <a:clrScheme name="Custom 9">
      <a:dk1>
        <a:sysClr val="windowText" lastClr="000000"/>
      </a:dk1>
      <a:lt1>
        <a:sysClr val="window" lastClr="FFFFFF"/>
      </a:lt1>
      <a:dk2>
        <a:srgbClr val="3C495B"/>
      </a:dk2>
      <a:lt2>
        <a:srgbClr val="BCA180"/>
      </a:lt2>
      <a:accent1>
        <a:srgbClr val="DA521F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20354</TotalTime>
  <Words>1014</Words>
  <Application>Microsoft Office PowerPoint</Application>
  <PresentationFormat>Widescreen</PresentationFormat>
  <Paragraphs>100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SimSun</vt:lpstr>
      <vt:lpstr>Aptos</vt:lpstr>
      <vt:lpstr>Arial</vt:lpstr>
      <vt:lpstr>Calibri</vt:lpstr>
      <vt:lpstr>Calibri Light</vt:lpstr>
      <vt:lpstr>Cambria Math</vt:lpstr>
      <vt:lpstr>Section Header</vt:lpstr>
      <vt:lpstr>Section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Dora Schuller</dc:creator>
  <cp:lastModifiedBy>Dora Schuller</cp:lastModifiedBy>
  <cp:revision>146</cp:revision>
  <dcterms:created xsi:type="dcterms:W3CDTF">2025-06-16T07:49:52Z</dcterms:created>
  <dcterms:modified xsi:type="dcterms:W3CDTF">2026-03-06T12:53:22Z</dcterms:modified>
</cp:coreProperties>
</file>